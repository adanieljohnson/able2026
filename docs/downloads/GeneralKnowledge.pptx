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handoutMasterIdLst>
    <p:handoutMasterId r:id="rId22"/>
  </p:handoutMasterIdLst>
  <p:sldIdLst>
    <p:sldId id="661" r:id="rId2"/>
    <p:sldId id="678" r:id="rId3"/>
    <p:sldId id="684" r:id="rId4"/>
    <p:sldId id="718" r:id="rId5"/>
    <p:sldId id="719" r:id="rId6"/>
    <p:sldId id="720" r:id="rId7"/>
    <p:sldId id="725" r:id="rId8"/>
    <p:sldId id="721" r:id="rId9"/>
    <p:sldId id="722" r:id="rId10"/>
    <p:sldId id="723" r:id="rId11"/>
    <p:sldId id="724" r:id="rId12"/>
    <p:sldId id="667" r:id="rId13"/>
    <p:sldId id="693" r:id="rId14"/>
    <p:sldId id="696" r:id="rId15"/>
    <p:sldId id="702" r:id="rId16"/>
    <p:sldId id="703" r:id="rId17"/>
    <p:sldId id="670" r:id="rId18"/>
    <p:sldId id="672" r:id="rId19"/>
    <p:sldId id="671" r:id="rId20"/>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EFCC2"/>
    <a:srgbClr val="FFD579"/>
    <a:srgbClr val="BBFAE3"/>
    <a:srgbClr val="DCE6F2"/>
    <a:srgbClr val="FAE1E2"/>
    <a:srgbClr val="73BAA1"/>
    <a:srgbClr val="C2BE71"/>
    <a:srgbClr val="FA9D9F"/>
    <a:srgbClr val="FAB9BB"/>
    <a:srgbClr val="9BFAD8"/>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025"/>
    <p:restoredTop sz="88019"/>
  </p:normalViewPr>
  <p:slideViewPr>
    <p:cSldViewPr snapToGrid="0" snapToObjects="1">
      <p:cViewPr varScale="1">
        <p:scale>
          <a:sx n="146" d="100"/>
          <a:sy n="146" d="100"/>
        </p:scale>
        <p:origin x="1280" y="176"/>
      </p:cViewPr>
      <p:guideLst>
        <p:guide orient="horz" pos="1620"/>
        <p:guide pos="2880"/>
      </p:guideLst>
    </p:cSldViewPr>
  </p:slideViewPr>
  <p:notesTextViewPr>
    <p:cViewPr>
      <p:scale>
        <a:sx n="100" d="100"/>
        <a:sy n="100" d="100"/>
      </p:scale>
      <p:origin x="0" y="0"/>
    </p:cViewPr>
  </p:notesTextViewPr>
  <p:notesViewPr>
    <p:cSldViewPr snapToGrid="0" snapToObjects="1">
      <p:cViewPr varScale="1">
        <p:scale>
          <a:sx n="142" d="100"/>
          <a:sy n="142" d="100"/>
        </p:scale>
        <p:origin x="5528" y="16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dirty="0"/>
              <a:t>NSF Training Program</a:t>
            </a: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61E78F0-4B0D-FA47-B9C7-2FD1B1A5D44E}" type="datetimeFigureOut">
              <a:rPr lang="en-US" smtClean="0"/>
              <a:t>2/7/24</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C7E9A11-F3F1-DC4F-A39F-D959017F7C63}" type="slidenum">
              <a:rPr lang="en-US" smtClean="0"/>
              <a:t>‹#›</a:t>
            </a:fld>
            <a:endParaRPr lang="en-US"/>
          </a:p>
        </p:txBody>
      </p:sp>
    </p:spTree>
    <p:extLst>
      <p:ext uri="{BB962C8B-B14F-4D97-AF65-F5344CB8AC3E}">
        <p14:creationId xmlns:p14="http://schemas.microsoft.com/office/powerpoint/2010/main" val="42406608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r>
              <a:rPr lang="en-US" dirty="0"/>
              <a:t>NSF Training Program</a:t>
            </a:r>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46B3267-9F9A-F94E-A91F-249912F036B6}" type="slidenum">
              <a:rPr lang="en-US" smtClean="0"/>
              <a:t>‹#›</a:t>
            </a:fld>
            <a:endParaRPr lang="en-US"/>
          </a:p>
        </p:txBody>
      </p:sp>
      <p:sp>
        <p:nvSpPr>
          <p:cNvPr id="8" name="Date Placeholder 7"/>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84B883A-BCF6-6B42-86A7-F4CC518E427B}" type="datetimeFigureOut">
              <a:rPr lang="en-US" smtClean="0"/>
              <a:t>2/7/24</a:t>
            </a:fld>
            <a:endParaRPr lang="en-US"/>
          </a:p>
        </p:txBody>
      </p:sp>
    </p:spTree>
    <p:extLst>
      <p:ext uri="{BB962C8B-B14F-4D97-AF65-F5344CB8AC3E}">
        <p14:creationId xmlns:p14="http://schemas.microsoft.com/office/powerpoint/2010/main" val="700236398"/>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1920 x 1080</a:t>
            </a:r>
          </a:p>
        </p:txBody>
      </p:sp>
      <p:sp>
        <p:nvSpPr>
          <p:cNvPr id="4" name="Slide Number Placeholder 3"/>
          <p:cNvSpPr>
            <a:spLocks noGrp="1"/>
          </p:cNvSpPr>
          <p:nvPr>
            <p:ph type="sldNum" sz="quarter" idx="10"/>
          </p:nvPr>
        </p:nvSpPr>
        <p:spPr/>
        <p:txBody>
          <a:bodyPr/>
          <a:lstStyle/>
          <a:p>
            <a:fld id="{F46B3267-9F9A-F94E-A91F-249912F036B6}" type="slidenum">
              <a:rPr lang="en-US" smtClean="0"/>
              <a:t>1</a:t>
            </a:fld>
            <a:endParaRPr lang="en-US"/>
          </a:p>
        </p:txBody>
      </p:sp>
    </p:spTree>
    <p:extLst>
      <p:ext uri="{BB962C8B-B14F-4D97-AF65-F5344CB8AC3E}">
        <p14:creationId xmlns:p14="http://schemas.microsoft.com/office/powerpoint/2010/main" val="21173126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8C1631-EAF9-A2FC-BD44-E900BEE173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D0B2DC-D406-0A57-7010-21F17DA6634C}"/>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51FABF38-F52C-20E3-CF24-0DA9E8C7AC5C}"/>
              </a:ext>
            </a:extLst>
          </p:cNvPr>
          <p:cNvSpPr>
            <a:spLocks noGrp="1"/>
          </p:cNvSpPr>
          <p:nvPr>
            <p:ph type="body" idx="1"/>
          </p:nvPr>
        </p:nvSpPr>
        <p:spPr/>
        <p:txBody>
          <a:bodyPr/>
          <a:lstStyle/>
          <a:p>
            <a:r>
              <a:rPr lang="en-US" dirty="0"/>
              <a:t>1920 x 1080</a:t>
            </a:r>
          </a:p>
        </p:txBody>
      </p:sp>
      <p:sp>
        <p:nvSpPr>
          <p:cNvPr id="4" name="Slide Number Placeholder 3">
            <a:extLst>
              <a:ext uri="{FF2B5EF4-FFF2-40B4-BE49-F238E27FC236}">
                <a16:creationId xmlns:a16="http://schemas.microsoft.com/office/drawing/2014/main" id="{67DD0AC8-9D70-FE72-6DC3-0C6BFE9A6193}"/>
              </a:ext>
            </a:extLst>
          </p:cNvPr>
          <p:cNvSpPr>
            <a:spLocks noGrp="1"/>
          </p:cNvSpPr>
          <p:nvPr>
            <p:ph type="sldNum" sz="quarter" idx="10"/>
          </p:nvPr>
        </p:nvSpPr>
        <p:spPr/>
        <p:txBody>
          <a:bodyPr/>
          <a:lstStyle/>
          <a:p>
            <a:fld id="{F46B3267-9F9A-F94E-A91F-249912F036B6}" type="slidenum">
              <a:rPr lang="en-US" smtClean="0"/>
              <a:t>2</a:t>
            </a:fld>
            <a:endParaRPr lang="en-US"/>
          </a:p>
        </p:txBody>
      </p:sp>
    </p:spTree>
    <p:extLst>
      <p:ext uri="{BB962C8B-B14F-4D97-AF65-F5344CB8AC3E}">
        <p14:creationId xmlns:p14="http://schemas.microsoft.com/office/powerpoint/2010/main" val="19635180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A2368E-EC21-2EA6-5E54-B85392187E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FDBA04-41AC-5083-F751-6931996412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21D197-4A4E-8ED3-AFF2-4B709C447811}"/>
              </a:ext>
            </a:extLst>
          </p:cNvPr>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Bloom’s levels of understanding. Originally termed Bloom’s taxonomy of the cognitive domain, this schema defines six levels of conceptual understanding according to the intellectual operations that students at each level are capable of (Bloom &amp; </a:t>
            </a:r>
            <a:r>
              <a:rPr lang="en-US" sz="1200" b="0" i="0" u="none" strike="noStrike" kern="1200" baseline="0" dirty="0" err="1">
                <a:solidFill>
                  <a:schemeClr val="tx1"/>
                </a:solidFill>
                <a:latin typeface="+mn-lt"/>
                <a:ea typeface="+mn-ea"/>
                <a:cs typeface="+mn-cs"/>
              </a:rPr>
              <a:t>Krathwohl</a:t>
            </a:r>
            <a:r>
              <a:rPr lang="en-US" sz="1200" b="0" i="0" u="none" strike="noStrike" kern="1200" baseline="0" dirty="0">
                <a:solidFill>
                  <a:schemeClr val="tx1"/>
                </a:solidFill>
                <a:latin typeface="+mn-lt"/>
                <a:ea typeface="+mn-ea"/>
                <a:cs typeface="+mn-cs"/>
              </a:rPr>
              <a:t> 1956).</a:t>
            </a:r>
          </a:p>
          <a:p>
            <a:r>
              <a:rPr lang="en-US" sz="1200" b="0" i="0" u="none" strike="noStrike" kern="1200" baseline="0" dirty="0">
                <a:solidFill>
                  <a:schemeClr val="tx1"/>
                </a:solidFill>
                <a:latin typeface="+mn-lt"/>
                <a:ea typeface="+mn-ea"/>
                <a:cs typeface="+mn-cs"/>
              </a:rPr>
              <a:t>The italicized verbs have been added to the original hierarchy; they indicate performance tasks that test achievement of learning goals at each level. Fine distinctions in the hierarchy are difficult, and some educators prefer to classify goals on only three levels: low (1, 2),</a:t>
            </a:r>
          </a:p>
          <a:p>
            <a:r>
              <a:rPr lang="en-US" sz="1200" b="0" i="0" u="none" strike="noStrike" kern="1200" baseline="0" dirty="0">
                <a:solidFill>
                  <a:schemeClr val="tx1"/>
                </a:solidFill>
                <a:latin typeface="+mn-lt"/>
                <a:ea typeface="+mn-ea"/>
                <a:cs typeface="+mn-cs"/>
              </a:rPr>
              <a:t>medium (3, 4), and high (5, 6). (Based on Allen &amp; Tanner 2002.)</a:t>
            </a:r>
          </a:p>
        </p:txBody>
      </p:sp>
      <p:sp>
        <p:nvSpPr>
          <p:cNvPr id="4" name="Slide Number Placeholder 3">
            <a:extLst>
              <a:ext uri="{FF2B5EF4-FFF2-40B4-BE49-F238E27FC236}">
                <a16:creationId xmlns:a16="http://schemas.microsoft.com/office/drawing/2014/main" id="{0E13ABC5-9B93-E599-E246-5564B1F2B493}"/>
              </a:ext>
            </a:extLst>
          </p:cNvPr>
          <p:cNvSpPr>
            <a:spLocks noGrp="1"/>
          </p:cNvSpPr>
          <p:nvPr>
            <p:ph type="sldNum" sz="quarter" idx="10"/>
          </p:nvPr>
        </p:nvSpPr>
        <p:spPr/>
        <p:txBody>
          <a:bodyPr/>
          <a:lstStyle/>
          <a:p>
            <a:fld id="{02DB0320-5497-2D43-91E3-57689CA3E387}" type="slidenum">
              <a:rPr lang="en-US" smtClean="0"/>
              <a:t>12</a:t>
            </a:fld>
            <a:endParaRPr lang="en-US"/>
          </a:p>
        </p:txBody>
      </p:sp>
    </p:spTree>
    <p:extLst>
      <p:ext uri="{BB962C8B-B14F-4D97-AF65-F5344CB8AC3E}">
        <p14:creationId xmlns:p14="http://schemas.microsoft.com/office/powerpoint/2010/main" val="6780755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E36423-5750-ADEC-7F2B-1BACA5FCBB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DFF76-AF6F-FFA7-98B0-D4B0D5EF9F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47C7CA-E20D-B34F-9DCD-1C3674D9127A}"/>
              </a:ext>
            </a:extLst>
          </p:cNvPr>
          <p:cNvSpPr>
            <a:spLocks noGrp="1"/>
          </p:cNvSpPr>
          <p:nvPr>
            <p:ph type="body" idx="1"/>
          </p:nvPr>
        </p:nvSpPr>
        <p:spPr/>
        <p:txBody>
          <a:bodyPr/>
          <a:lstStyle/>
          <a:p>
            <a:endParaRPr lang="en-US" sz="1200" b="0" i="0" u="none" strike="noStrike" kern="1200" baseline="0" dirty="0">
              <a:solidFill>
                <a:schemeClr val="tx1"/>
              </a:solidFill>
              <a:latin typeface="+mn-lt"/>
              <a:ea typeface="+mn-ea"/>
              <a:cs typeface="+mn-cs"/>
            </a:endParaRPr>
          </a:p>
        </p:txBody>
      </p:sp>
      <p:sp>
        <p:nvSpPr>
          <p:cNvPr id="4" name="Slide Number Placeholder 3">
            <a:extLst>
              <a:ext uri="{FF2B5EF4-FFF2-40B4-BE49-F238E27FC236}">
                <a16:creationId xmlns:a16="http://schemas.microsoft.com/office/drawing/2014/main" id="{F965937F-A7B3-55B8-A04F-BAF33A20095E}"/>
              </a:ext>
            </a:extLst>
          </p:cNvPr>
          <p:cNvSpPr>
            <a:spLocks noGrp="1"/>
          </p:cNvSpPr>
          <p:nvPr>
            <p:ph type="sldNum" sz="quarter" idx="10"/>
          </p:nvPr>
        </p:nvSpPr>
        <p:spPr/>
        <p:txBody>
          <a:bodyPr/>
          <a:lstStyle/>
          <a:p>
            <a:fld id="{02DB0320-5497-2D43-91E3-57689CA3E387}" type="slidenum">
              <a:rPr lang="en-US" smtClean="0"/>
              <a:t>17</a:t>
            </a:fld>
            <a:endParaRPr lang="en-US"/>
          </a:p>
        </p:txBody>
      </p:sp>
    </p:spTree>
    <p:extLst>
      <p:ext uri="{BB962C8B-B14F-4D97-AF65-F5344CB8AC3E}">
        <p14:creationId xmlns:p14="http://schemas.microsoft.com/office/powerpoint/2010/main" val="19731557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ounded Rectangle 6"/>
          <p:cNvSpPr/>
          <p:nvPr userDrawn="1"/>
        </p:nvSpPr>
        <p:spPr>
          <a:xfrm>
            <a:off x="-209174" y="1553881"/>
            <a:ext cx="8791388" cy="1206221"/>
          </a:xfrm>
          <a:prstGeom prst="roundRect">
            <a:avLst/>
          </a:prstGeom>
          <a:solidFill>
            <a:schemeClr val="bg2"/>
          </a:solidFill>
          <a:ln>
            <a:solidFill>
              <a:schemeClr val="bg2">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685800" y="1582878"/>
            <a:ext cx="7772400" cy="1102519"/>
          </a:xfrm>
        </p:spPr>
        <p:txBody>
          <a:bodyPr>
            <a:noAutofit/>
          </a:bodyPr>
          <a:lstStyle>
            <a:lvl1pPr>
              <a:defRPr sz="3200" cap="small"/>
            </a:lvl1pPr>
          </a:lstStyle>
          <a:p>
            <a:r>
              <a:rPr lang="en-US" dirty="0"/>
              <a:t>Click to Edit </a:t>
            </a:r>
            <a:br>
              <a:rPr lang="en-US" dirty="0"/>
            </a:br>
            <a:r>
              <a:rPr lang="en-US" dirty="0"/>
              <a:t>Master Title Style</a:t>
            </a:r>
          </a:p>
        </p:txBody>
      </p:sp>
      <p:sp>
        <p:nvSpPr>
          <p:cNvPr id="3" name="Subtitle 2"/>
          <p:cNvSpPr>
            <a:spLocks noGrp="1"/>
          </p:cNvSpPr>
          <p:nvPr>
            <p:ph type="subTitle" idx="1"/>
          </p:nvPr>
        </p:nvSpPr>
        <p:spPr>
          <a:xfrm>
            <a:off x="1371600" y="2914650"/>
            <a:ext cx="6400800" cy="1314450"/>
          </a:xfrm>
        </p:spPr>
        <p:txBody>
          <a:bodyPr>
            <a:normAutofit/>
          </a:bodyPr>
          <a:lstStyle>
            <a:lvl1pPr marL="0" indent="0" algn="ctr">
              <a:buNone/>
              <a:defRPr sz="2400">
                <a:solidFill>
                  <a:schemeClr val="bg1">
                    <a:lumMod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89EE016B-1988-9543-9542-07600789AFDB}" type="datetimeFigureOut">
              <a:rPr lang="en-US" smtClean="0"/>
              <a:t>2/7/24</a:t>
            </a:fld>
            <a:endParaRPr lang="en-US" dirty="0"/>
          </a:p>
        </p:txBody>
      </p:sp>
      <p:sp>
        <p:nvSpPr>
          <p:cNvPr id="5" name="Footer Placeholder 4"/>
          <p:cNvSpPr>
            <a:spLocks noGrp="1"/>
          </p:cNvSpPr>
          <p:nvPr>
            <p:ph type="ftr" sz="quarter" idx="11"/>
          </p:nvPr>
        </p:nvSpPr>
        <p:spPr>
          <a:xfrm>
            <a:off x="3124200" y="4767263"/>
            <a:ext cx="2895600" cy="273844"/>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A03896FF-2819-2F41-8D45-9177822C7E7D}" type="slidenum">
              <a:rPr lang="en-US" smtClean="0"/>
              <a:t>‹#›</a:t>
            </a:fld>
            <a:endParaRPr lang="en-US"/>
          </a:p>
        </p:txBody>
      </p:sp>
    </p:spTree>
    <p:extLst>
      <p:ext uri="{BB962C8B-B14F-4D97-AF65-F5344CB8AC3E}">
        <p14:creationId xmlns:p14="http://schemas.microsoft.com/office/powerpoint/2010/main" val="10856399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8" name="Rounded Rectangle 7"/>
          <p:cNvSpPr/>
          <p:nvPr userDrawn="1"/>
        </p:nvSpPr>
        <p:spPr>
          <a:xfrm>
            <a:off x="-134470" y="187840"/>
            <a:ext cx="8791388" cy="839671"/>
          </a:xfrm>
          <a:prstGeom prst="roundRect">
            <a:avLst/>
          </a:prstGeom>
          <a:solidFill>
            <a:schemeClr val="bg2"/>
          </a:solidFill>
          <a:ln>
            <a:solidFill>
              <a:schemeClr val="bg2">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457200" y="202782"/>
            <a:ext cx="8199718" cy="857250"/>
          </a:xfrm>
        </p:spPr>
        <p:txBody>
          <a:bodyPr>
            <a:noAutofit/>
          </a:bodyPr>
          <a:lstStyle>
            <a:lvl1pPr>
              <a:defRPr sz="2800" b="1" i="0">
                <a:latin typeface="Calibri" charset="0"/>
                <a:ea typeface="Calibri" charset="0"/>
                <a:cs typeface="Calibri" charset="0"/>
              </a:defRPr>
            </a:lvl1pPr>
          </a:lstStyle>
          <a:p>
            <a:r>
              <a:rPr lang="en-US" dirty="0"/>
              <a:t>Click to edit </a:t>
            </a:r>
            <a:br>
              <a:rPr lang="en-US" dirty="0"/>
            </a:br>
            <a:r>
              <a:rPr lang="en-US" dirty="0"/>
              <a:t>Master title style</a:t>
            </a:r>
          </a:p>
        </p:txBody>
      </p:sp>
      <p:sp>
        <p:nvSpPr>
          <p:cNvPr id="3" name="Content Placeholder 2"/>
          <p:cNvSpPr>
            <a:spLocks noGrp="1"/>
          </p:cNvSpPr>
          <p:nvPr>
            <p:ph idx="1"/>
          </p:nvPr>
        </p:nvSpPr>
        <p:spPr/>
        <p:txBody>
          <a:bodyPr/>
          <a:lstStyle>
            <a:lvl1pPr>
              <a:defRPr sz="28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9EE016B-1988-9543-9542-07600789AFDB}" type="datetimeFigureOut">
              <a:rPr lang="en-US" smtClean="0"/>
              <a:t>2/7/24</a:t>
            </a:fld>
            <a:endParaRPr lang="en-US"/>
          </a:p>
        </p:txBody>
      </p:sp>
      <p:sp>
        <p:nvSpPr>
          <p:cNvPr id="5" name="Footer Placeholder 4"/>
          <p:cNvSpPr>
            <a:spLocks noGrp="1"/>
          </p:cNvSpPr>
          <p:nvPr>
            <p:ph type="ftr" sz="quarter" idx="11"/>
          </p:nvPr>
        </p:nvSpPr>
        <p:spPr>
          <a:xfrm>
            <a:off x="3124200" y="4767263"/>
            <a:ext cx="2895600" cy="273844"/>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A03896FF-2819-2F41-8D45-9177822C7E7D}" type="slidenum">
              <a:rPr lang="en-US" smtClean="0"/>
              <a:t>‹#›</a:t>
            </a:fld>
            <a:endParaRPr lang="en-US"/>
          </a:p>
        </p:txBody>
      </p:sp>
    </p:spTree>
    <p:extLst>
      <p:ext uri="{BB962C8B-B14F-4D97-AF65-F5344CB8AC3E}">
        <p14:creationId xmlns:p14="http://schemas.microsoft.com/office/powerpoint/2010/main" val="32802126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ounded Rectangle 6"/>
          <p:cNvSpPr/>
          <p:nvPr userDrawn="1"/>
        </p:nvSpPr>
        <p:spPr>
          <a:xfrm>
            <a:off x="-253998" y="3591497"/>
            <a:ext cx="8791388" cy="985394"/>
          </a:xfrm>
          <a:prstGeom prst="roundRect">
            <a:avLst/>
          </a:prstGeom>
          <a:solidFill>
            <a:schemeClr val="bg2"/>
          </a:solidFill>
          <a:ln>
            <a:solidFill>
              <a:schemeClr val="bg2">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722313" y="3624548"/>
            <a:ext cx="7772400" cy="985393"/>
          </a:xfrm>
        </p:spPr>
        <p:txBody>
          <a:bodyPr anchor="t">
            <a:normAutofit/>
          </a:bodyPr>
          <a:lstStyle>
            <a:lvl1pPr algn="l">
              <a:defRPr sz="2800" b="1" i="0" cap="none"/>
            </a:lvl1pPr>
          </a:lstStyle>
          <a:p>
            <a:r>
              <a:rPr lang="en-US" dirty="0"/>
              <a:t>Click to Edit</a:t>
            </a:r>
            <a:br>
              <a:rPr lang="en-US" dirty="0"/>
            </a:br>
            <a:r>
              <a:rPr lang="en-US" dirty="0"/>
              <a:t>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9EE016B-1988-9543-9542-07600789AFDB}" type="datetimeFigureOut">
              <a:rPr lang="en-US" smtClean="0"/>
              <a:t>2/7/24</a:t>
            </a:fld>
            <a:endParaRPr lang="en-US"/>
          </a:p>
        </p:txBody>
      </p:sp>
      <p:sp>
        <p:nvSpPr>
          <p:cNvPr id="5" name="Footer Placeholder 4"/>
          <p:cNvSpPr>
            <a:spLocks noGrp="1"/>
          </p:cNvSpPr>
          <p:nvPr>
            <p:ph type="ftr" sz="quarter" idx="11"/>
          </p:nvPr>
        </p:nvSpPr>
        <p:spPr>
          <a:xfrm>
            <a:off x="3124200" y="4767263"/>
            <a:ext cx="2895600" cy="273844"/>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A03896FF-2819-2F41-8D45-9177822C7E7D}" type="slidenum">
              <a:rPr lang="en-US" smtClean="0"/>
              <a:t>‹#›</a:t>
            </a:fld>
            <a:endParaRPr lang="en-US"/>
          </a:p>
        </p:txBody>
      </p:sp>
    </p:spTree>
    <p:extLst>
      <p:ext uri="{BB962C8B-B14F-4D97-AF65-F5344CB8AC3E}">
        <p14:creationId xmlns:p14="http://schemas.microsoft.com/office/powerpoint/2010/main" val="15734711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ounded Rectangle 7"/>
          <p:cNvSpPr/>
          <p:nvPr userDrawn="1"/>
        </p:nvSpPr>
        <p:spPr>
          <a:xfrm>
            <a:off x="-104588" y="257867"/>
            <a:ext cx="8791388" cy="824729"/>
          </a:xfrm>
          <a:prstGeom prst="roundRect">
            <a:avLst/>
          </a:prstGeom>
          <a:solidFill>
            <a:schemeClr val="bg2"/>
          </a:solidFill>
          <a:ln>
            <a:solidFill>
              <a:schemeClr val="bg2">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p:txBody>
          <a:bodyPr>
            <a:normAutofit/>
          </a:bodyPr>
          <a:lstStyle>
            <a:lvl1pPr>
              <a:defRPr sz="2800"/>
            </a:lvl1pPr>
          </a:lstStyle>
          <a:p>
            <a:r>
              <a:rPr lang="en-US" dirty="0"/>
              <a:t>Click to edit </a:t>
            </a:r>
            <a:br>
              <a:rPr lang="en-US" dirty="0"/>
            </a:br>
            <a:r>
              <a:rPr lang="en-US" dirty="0"/>
              <a:t>Master title style</a:t>
            </a:r>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89EE016B-1988-9543-9542-07600789AFDB}" type="datetimeFigureOut">
              <a:rPr lang="en-US" smtClean="0"/>
              <a:t>2/7/24</a:t>
            </a:fld>
            <a:endParaRPr lang="en-US"/>
          </a:p>
        </p:txBody>
      </p:sp>
      <p:sp>
        <p:nvSpPr>
          <p:cNvPr id="6" name="Footer Placeholder 5"/>
          <p:cNvSpPr>
            <a:spLocks noGrp="1"/>
          </p:cNvSpPr>
          <p:nvPr>
            <p:ph type="ftr" sz="quarter" idx="11"/>
          </p:nvPr>
        </p:nvSpPr>
        <p:spPr>
          <a:xfrm>
            <a:off x="3124200" y="4767263"/>
            <a:ext cx="2895600" cy="273844"/>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A03896FF-2819-2F41-8D45-9177822C7E7D}" type="slidenum">
              <a:rPr lang="en-US" smtClean="0"/>
              <a:t>‹#›</a:t>
            </a:fld>
            <a:endParaRPr lang="en-US"/>
          </a:p>
        </p:txBody>
      </p:sp>
    </p:spTree>
    <p:extLst>
      <p:ext uri="{BB962C8B-B14F-4D97-AF65-F5344CB8AC3E}">
        <p14:creationId xmlns:p14="http://schemas.microsoft.com/office/powerpoint/2010/main" val="21265119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ounded Rectangle 9"/>
          <p:cNvSpPr/>
          <p:nvPr userDrawn="1"/>
        </p:nvSpPr>
        <p:spPr>
          <a:xfrm>
            <a:off x="-132974" y="275250"/>
            <a:ext cx="8791388" cy="876085"/>
          </a:xfrm>
          <a:prstGeom prst="roundRect">
            <a:avLst/>
          </a:prstGeom>
          <a:solidFill>
            <a:schemeClr val="bg2"/>
          </a:solidFill>
          <a:ln>
            <a:solidFill>
              <a:schemeClr val="bg2">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p:txBody>
          <a:bodyPr>
            <a:normAutofit/>
          </a:bodyPr>
          <a:lstStyle>
            <a:lvl1pPr>
              <a:defRPr sz="2800"/>
            </a:lvl1pPr>
          </a:lstStyle>
          <a:p>
            <a:r>
              <a:rPr lang="en-US" dirty="0"/>
              <a:t>Click to edit </a:t>
            </a:r>
            <a:br>
              <a:rPr lang="en-US" dirty="0"/>
            </a:br>
            <a:r>
              <a:rPr lang="en-US" dirty="0"/>
              <a:t>Master title style</a:t>
            </a:r>
          </a:p>
        </p:txBody>
      </p:sp>
      <p:sp>
        <p:nvSpPr>
          <p:cNvPr id="3" name="Text Placeholder 2"/>
          <p:cNvSpPr>
            <a:spLocks noGrp="1"/>
          </p:cNvSpPr>
          <p:nvPr>
            <p:ph type="body" idx="1" hasCustomPrompt="1"/>
          </p:nvPr>
        </p:nvSpPr>
        <p:spPr>
          <a:xfrm>
            <a:off x="457200" y="1151335"/>
            <a:ext cx="4040188" cy="479822"/>
          </a:xfrm>
        </p:spPr>
        <p:txBody>
          <a:bodyPr anchor="b"/>
          <a:lstStyle>
            <a:lvl1pPr marL="0" indent="0">
              <a:buNone/>
              <a:defRPr sz="2400" b="0" i="0" u="sng">
                <a:latin typeface="Calibri" charset="0"/>
                <a:ea typeface="Calibri" charset="0"/>
                <a:cs typeface="Calibri"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400"/>
            </a:lvl2pPr>
            <a:lvl3pPr>
              <a:defRPr sz="2400"/>
            </a:lvl3pPr>
            <a:lvl4pPr>
              <a:defRPr sz="2000"/>
            </a:lvl4pPr>
            <a:lvl5pPr>
              <a:defRPr sz="20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hasCustomPrompt="1"/>
          </p:nvPr>
        </p:nvSpPr>
        <p:spPr>
          <a:xfrm>
            <a:off x="4645026" y="1151335"/>
            <a:ext cx="4041775" cy="479822"/>
          </a:xfrm>
        </p:spPr>
        <p:txBody>
          <a:bodyPr anchor="b"/>
          <a:lstStyle>
            <a:lvl1pPr marL="0" indent="0">
              <a:buNone/>
              <a:defRPr sz="2400" b="0" i="0" u="sng">
                <a:latin typeface="Calibri" charset="0"/>
                <a:ea typeface="Calibri" charset="0"/>
                <a:cs typeface="Calibri"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styles</a:t>
            </a:r>
          </a:p>
        </p:txBody>
      </p:sp>
      <p:sp>
        <p:nvSpPr>
          <p:cNvPr id="6" name="Content Placeholder 5"/>
          <p:cNvSpPr>
            <a:spLocks noGrp="1"/>
          </p:cNvSpPr>
          <p:nvPr>
            <p:ph sz="quarter" idx="4"/>
          </p:nvPr>
        </p:nvSpPr>
        <p:spPr>
          <a:xfrm>
            <a:off x="4645026" y="1631156"/>
            <a:ext cx="4041775" cy="2963466"/>
          </a:xfrm>
        </p:spPr>
        <p:txBody>
          <a:bodyPr/>
          <a:lstStyle>
            <a:lvl1pPr>
              <a:defRPr sz="2400"/>
            </a:lvl1pPr>
            <a:lvl2pPr>
              <a:defRPr sz="2400"/>
            </a:lvl2pPr>
            <a:lvl3pPr>
              <a:defRPr sz="2400"/>
            </a:lvl3pPr>
            <a:lvl4pPr>
              <a:defRPr sz="2000"/>
            </a:lvl4pPr>
            <a:lvl5pPr>
              <a:defRPr sz="20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9EE016B-1988-9543-9542-07600789AFDB}" type="datetimeFigureOut">
              <a:rPr lang="en-US" smtClean="0"/>
              <a:t>2/7/24</a:t>
            </a:fld>
            <a:endParaRPr lang="en-US"/>
          </a:p>
        </p:txBody>
      </p:sp>
      <p:sp>
        <p:nvSpPr>
          <p:cNvPr id="8" name="Footer Placeholder 7"/>
          <p:cNvSpPr>
            <a:spLocks noGrp="1"/>
          </p:cNvSpPr>
          <p:nvPr>
            <p:ph type="ftr" sz="quarter" idx="11"/>
          </p:nvPr>
        </p:nvSpPr>
        <p:spPr>
          <a:xfrm>
            <a:off x="3124200" y="4767263"/>
            <a:ext cx="2895600" cy="273844"/>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A03896FF-2819-2F41-8D45-9177822C7E7D}" type="slidenum">
              <a:rPr lang="en-US" smtClean="0"/>
              <a:t>‹#›</a:t>
            </a:fld>
            <a:endParaRPr lang="en-US"/>
          </a:p>
        </p:txBody>
      </p:sp>
    </p:spTree>
    <p:extLst>
      <p:ext uri="{BB962C8B-B14F-4D97-AF65-F5344CB8AC3E}">
        <p14:creationId xmlns:p14="http://schemas.microsoft.com/office/powerpoint/2010/main" val="31156796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ounded Rectangle 5"/>
          <p:cNvSpPr/>
          <p:nvPr userDrawn="1"/>
        </p:nvSpPr>
        <p:spPr>
          <a:xfrm>
            <a:off x="-104588" y="257867"/>
            <a:ext cx="8791388" cy="854838"/>
          </a:xfrm>
          <a:prstGeom prst="roundRect">
            <a:avLst/>
          </a:prstGeom>
          <a:solidFill>
            <a:schemeClr val="bg2"/>
          </a:solidFill>
          <a:ln>
            <a:solidFill>
              <a:schemeClr val="bg2">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p:txBody>
          <a:bodyPr>
            <a:normAutofit/>
          </a:bodyPr>
          <a:lstStyle>
            <a:lvl1pPr>
              <a:defRPr sz="2800"/>
            </a:lvl1pPr>
          </a:lstStyle>
          <a:p>
            <a:r>
              <a:rPr lang="en-US" dirty="0"/>
              <a:t>Click to edit</a:t>
            </a:r>
            <a:br>
              <a:rPr lang="en-US" dirty="0"/>
            </a:br>
            <a:r>
              <a:rPr lang="en-US" dirty="0"/>
              <a:t>Master title style</a:t>
            </a:r>
          </a:p>
        </p:txBody>
      </p:sp>
      <p:sp>
        <p:nvSpPr>
          <p:cNvPr id="3" name="Date Placeholder 2"/>
          <p:cNvSpPr>
            <a:spLocks noGrp="1"/>
          </p:cNvSpPr>
          <p:nvPr>
            <p:ph type="dt" sz="half" idx="10"/>
          </p:nvPr>
        </p:nvSpPr>
        <p:spPr/>
        <p:txBody>
          <a:bodyPr/>
          <a:lstStyle/>
          <a:p>
            <a:fld id="{89EE016B-1988-9543-9542-07600789AFDB}" type="datetimeFigureOut">
              <a:rPr lang="en-US" smtClean="0"/>
              <a:t>2/7/24</a:t>
            </a:fld>
            <a:endParaRPr lang="en-US" dirty="0"/>
          </a:p>
        </p:txBody>
      </p:sp>
      <p:sp>
        <p:nvSpPr>
          <p:cNvPr id="4" name="Footer Placeholder 3"/>
          <p:cNvSpPr>
            <a:spLocks noGrp="1"/>
          </p:cNvSpPr>
          <p:nvPr>
            <p:ph type="ftr" sz="quarter" idx="11"/>
          </p:nvPr>
        </p:nvSpPr>
        <p:spPr>
          <a:xfrm>
            <a:off x="3124200" y="4767263"/>
            <a:ext cx="2895600" cy="273844"/>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A03896FF-2819-2F41-8D45-9177822C7E7D}" type="slidenum">
              <a:rPr lang="en-US" smtClean="0"/>
              <a:t>‹#›</a:t>
            </a:fld>
            <a:endParaRPr lang="en-US"/>
          </a:p>
        </p:txBody>
      </p:sp>
    </p:spTree>
    <p:extLst>
      <p:ext uri="{BB962C8B-B14F-4D97-AF65-F5344CB8AC3E}">
        <p14:creationId xmlns:p14="http://schemas.microsoft.com/office/powerpoint/2010/main" val="33288663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9EE016B-1988-9543-9542-07600789AFDB}" type="datetimeFigureOut">
              <a:rPr lang="en-US" smtClean="0"/>
              <a:t>2/7/24</a:t>
            </a:fld>
            <a:endParaRPr lang="en-US"/>
          </a:p>
        </p:txBody>
      </p:sp>
      <p:sp>
        <p:nvSpPr>
          <p:cNvPr id="3" name="Footer Placeholder 2"/>
          <p:cNvSpPr>
            <a:spLocks noGrp="1"/>
          </p:cNvSpPr>
          <p:nvPr>
            <p:ph type="ftr" sz="quarter" idx="11"/>
          </p:nvPr>
        </p:nvSpPr>
        <p:spPr>
          <a:xfrm>
            <a:off x="3124200" y="4767263"/>
            <a:ext cx="2895600" cy="273844"/>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A03896FF-2819-2F41-8D45-9177822C7E7D}" type="slidenum">
              <a:rPr lang="en-US" smtClean="0"/>
              <a:t>‹#›</a:t>
            </a:fld>
            <a:endParaRPr lang="en-US"/>
          </a:p>
        </p:txBody>
      </p:sp>
    </p:spTree>
    <p:extLst>
      <p:ext uri="{BB962C8B-B14F-4D97-AF65-F5344CB8AC3E}">
        <p14:creationId xmlns:p14="http://schemas.microsoft.com/office/powerpoint/2010/main" val="38979860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8" name="Rounded Rectangle 7"/>
          <p:cNvSpPr/>
          <p:nvPr userDrawn="1"/>
        </p:nvSpPr>
        <p:spPr>
          <a:xfrm>
            <a:off x="-89648" y="307368"/>
            <a:ext cx="4661647" cy="768395"/>
          </a:xfrm>
          <a:prstGeom prst="roundRect">
            <a:avLst/>
          </a:prstGeom>
          <a:solidFill>
            <a:schemeClr val="bg2"/>
          </a:solidFill>
          <a:ln>
            <a:solidFill>
              <a:schemeClr val="bg2">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Calibri" charset="0"/>
              <a:ea typeface="Calibri" charset="0"/>
              <a:cs typeface="Calibri" charset="0"/>
            </a:endParaRPr>
          </a:p>
        </p:txBody>
      </p:sp>
      <p:sp>
        <p:nvSpPr>
          <p:cNvPr id="2" name="Title 1"/>
          <p:cNvSpPr>
            <a:spLocks noGrp="1"/>
          </p:cNvSpPr>
          <p:nvPr>
            <p:ph type="title"/>
          </p:nvPr>
        </p:nvSpPr>
        <p:spPr>
          <a:xfrm>
            <a:off x="457201" y="204787"/>
            <a:ext cx="4036076" cy="871538"/>
          </a:xfrm>
        </p:spPr>
        <p:txBody>
          <a:bodyPr anchor="b"/>
          <a:lstStyle>
            <a:lvl1pPr algn="l">
              <a:defRPr sz="2000" b="1"/>
            </a:lvl1pPr>
          </a:lstStyle>
          <a:p>
            <a:r>
              <a:rPr lang="en-US" dirty="0"/>
              <a:t>Click to edit Master title style</a:t>
            </a:r>
          </a:p>
        </p:txBody>
      </p:sp>
      <p:sp>
        <p:nvSpPr>
          <p:cNvPr id="3" name="Content Placeholder 2"/>
          <p:cNvSpPr>
            <a:spLocks noGrp="1"/>
          </p:cNvSpPr>
          <p:nvPr>
            <p:ph idx="1"/>
          </p:nvPr>
        </p:nvSpPr>
        <p:spPr>
          <a:xfrm>
            <a:off x="457200" y="1178344"/>
            <a:ext cx="4114800" cy="3383497"/>
          </a:xfrm>
        </p:spPr>
        <p:txBody>
          <a:bodyPr/>
          <a:lstStyle>
            <a:lvl1pPr>
              <a:defRPr sz="28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89EE016B-1988-9543-9542-07600789AFDB}" type="datetimeFigureOut">
              <a:rPr lang="en-US" smtClean="0"/>
              <a:t>2/7/24</a:t>
            </a:fld>
            <a:endParaRPr lang="en-US"/>
          </a:p>
        </p:txBody>
      </p:sp>
      <p:sp>
        <p:nvSpPr>
          <p:cNvPr id="6" name="Footer Placeholder 5"/>
          <p:cNvSpPr>
            <a:spLocks noGrp="1"/>
          </p:cNvSpPr>
          <p:nvPr>
            <p:ph type="ftr" sz="quarter" idx="11"/>
          </p:nvPr>
        </p:nvSpPr>
        <p:spPr>
          <a:xfrm>
            <a:off x="3124200" y="4767263"/>
            <a:ext cx="2895600" cy="273844"/>
          </a:xfrm>
          <a:prstGeom prst="rect">
            <a:avLst/>
          </a:prstGeom>
        </p:spPr>
        <p:txBody>
          <a:bodyPr/>
          <a:lstStyle/>
          <a:p>
            <a:endParaRPr lang="en-US" dirty="0"/>
          </a:p>
        </p:txBody>
      </p:sp>
      <p:sp>
        <p:nvSpPr>
          <p:cNvPr id="7" name="Slide Number Placeholder 6"/>
          <p:cNvSpPr>
            <a:spLocks noGrp="1"/>
          </p:cNvSpPr>
          <p:nvPr>
            <p:ph type="sldNum" sz="quarter" idx="12"/>
          </p:nvPr>
        </p:nvSpPr>
        <p:spPr/>
        <p:txBody>
          <a:bodyPr/>
          <a:lstStyle/>
          <a:p>
            <a:fld id="{A03896FF-2819-2F41-8D45-9177822C7E7D}" type="slidenum">
              <a:rPr lang="en-US" smtClean="0"/>
              <a:t>‹#›</a:t>
            </a:fld>
            <a:endParaRPr lang="en-US"/>
          </a:p>
        </p:txBody>
      </p:sp>
    </p:spTree>
    <p:extLst>
      <p:ext uri="{BB962C8B-B14F-4D97-AF65-F5344CB8AC3E}">
        <p14:creationId xmlns:p14="http://schemas.microsoft.com/office/powerpoint/2010/main" val="20831498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Content with Caption">
    <p:spTree>
      <p:nvGrpSpPr>
        <p:cNvPr id="1" name=""/>
        <p:cNvGrpSpPr/>
        <p:nvPr/>
      </p:nvGrpSpPr>
      <p:grpSpPr>
        <a:xfrm>
          <a:off x="0" y="0"/>
          <a:ext cx="0" cy="0"/>
          <a:chOff x="0" y="0"/>
          <a:chExt cx="0" cy="0"/>
        </a:xfrm>
      </p:grpSpPr>
      <p:sp>
        <p:nvSpPr>
          <p:cNvPr id="8" name="Rounded Rectangle 7"/>
          <p:cNvSpPr/>
          <p:nvPr userDrawn="1"/>
        </p:nvSpPr>
        <p:spPr>
          <a:xfrm>
            <a:off x="-89648" y="307368"/>
            <a:ext cx="3462633" cy="768395"/>
          </a:xfrm>
          <a:prstGeom prst="roundRect">
            <a:avLst/>
          </a:prstGeom>
          <a:solidFill>
            <a:schemeClr val="bg2"/>
          </a:solidFill>
          <a:ln>
            <a:solidFill>
              <a:schemeClr val="bg2">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Calibri" charset="0"/>
              <a:ea typeface="Calibri" charset="0"/>
              <a:cs typeface="Calibri" charset="0"/>
            </a:endParaRPr>
          </a:p>
        </p:txBody>
      </p:sp>
      <p:sp>
        <p:nvSpPr>
          <p:cNvPr id="2" name="Title 1"/>
          <p:cNvSpPr>
            <a:spLocks noGrp="1"/>
          </p:cNvSpPr>
          <p:nvPr>
            <p:ph type="title"/>
          </p:nvPr>
        </p:nvSpPr>
        <p:spPr>
          <a:xfrm>
            <a:off x="457201" y="204787"/>
            <a:ext cx="2837061" cy="871538"/>
          </a:xfrm>
        </p:spPr>
        <p:txBody>
          <a:bodyPr anchor="b"/>
          <a:lstStyle>
            <a:lvl1pPr algn="l">
              <a:defRPr sz="2000" b="1"/>
            </a:lvl1pPr>
          </a:lstStyle>
          <a:p>
            <a:r>
              <a:rPr lang="en-US" dirty="0"/>
              <a:t>Click to edit Master title style</a:t>
            </a:r>
          </a:p>
        </p:txBody>
      </p:sp>
      <p:sp>
        <p:nvSpPr>
          <p:cNvPr id="3" name="Content Placeholder 2"/>
          <p:cNvSpPr>
            <a:spLocks noGrp="1"/>
          </p:cNvSpPr>
          <p:nvPr>
            <p:ph idx="1" hasCustomPrompt="1"/>
          </p:nvPr>
        </p:nvSpPr>
        <p:spPr>
          <a:xfrm>
            <a:off x="457200" y="1178344"/>
            <a:ext cx="2837062" cy="3383497"/>
          </a:xfrm>
        </p:spPr>
        <p:txBody>
          <a:bodyPr/>
          <a:lstStyle>
            <a:lvl1pPr>
              <a:defRPr sz="28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89EE016B-1988-9543-9542-07600789AFDB}" type="datetimeFigureOut">
              <a:rPr lang="en-US" smtClean="0"/>
              <a:t>2/7/24</a:t>
            </a:fld>
            <a:endParaRPr lang="en-US"/>
          </a:p>
        </p:txBody>
      </p:sp>
      <p:sp>
        <p:nvSpPr>
          <p:cNvPr id="6" name="Footer Placeholder 5"/>
          <p:cNvSpPr>
            <a:spLocks noGrp="1"/>
          </p:cNvSpPr>
          <p:nvPr>
            <p:ph type="ftr" sz="quarter" idx="11"/>
          </p:nvPr>
        </p:nvSpPr>
        <p:spPr>
          <a:xfrm>
            <a:off x="3124200" y="4767263"/>
            <a:ext cx="2895600" cy="273844"/>
          </a:xfrm>
          <a:prstGeom prst="rect">
            <a:avLst/>
          </a:prstGeom>
        </p:spPr>
        <p:txBody>
          <a:bodyPr/>
          <a:lstStyle/>
          <a:p>
            <a:endParaRPr lang="en-US" dirty="0"/>
          </a:p>
        </p:txBody>
      </p:sp>
      <p:sp>
        <p:nvSpPr>
          <p:cNvPr id="7" name="Slide Number Placeholder 6"/>
          <p:cNvSpPr>
            <a:spLocks noGrp="1"/>
          </p:cNvSpPr>
          <p:nvPr>
            <p:ph type="sldNum" sz="quarter" idx="12"/>
          </p:nvPr>
        </p:nvSpPr>
        <p:spPr/>
        <p:txBody>
          <a:bodyPr/>
          <a:lstStyle/>
          <a:p>
            <a:fld id="{A03896FF-2819-2F41-8D45-9177822C7E7D}"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ounded Rectangle 7"/>
          <p:cNvSpPr/>
          <p:nvPr userDrawn="1"/>
        </p:nvSpPr>
        <p:spPr>
          <a:xfrm>
            <a:off x="-104588" y="3600450"/>
            <a:ext cx="8791388" cy="425053"/>
          </a:xfrm>
          <a:prstGeom prst="roundRect">
            <a:avLst/>
          </a:prstGeom>
          <a:solidFill>
            <a:schemeClr val="bg2"/>
          </a:solidFill>
          <a:ln>
            <a:solidFill>
              <a:schemeClr val="bg2">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Calibri" charset="0"/>
              <a:ea typeface="Calibri" charset="0"/>
              <a:cs typeface="Calibri" charset="0"/>
            </a:endParaRPr>
          </a:p>
        </p:txBody>
      </p:sp>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dirty="0"/>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Drag picture to placeholder or click icon to add</a:t>
            </a:r>
          </a:p>
        </p:txBody>
      </p:sp>
      <p:sp>
        <p:nvSpPr>
          <p:cNvPr id="4" name="Text Placeholder 3"/>
          <p:cNvSpPr>
            <a:spLocks noGrp="1"/>
          </p:cNvSpPr>
          <p:nvPr>
            <p:ph type="body" sz="half" idx="2"/>
          </p:nvPr>
        </p:nvSpPr>
        <p:spPr>
          <a:xfrm>
            <a:off x="1792288" y="4025503"/>
            <a:ext cx="5486400" cy="603647"/>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9EE016B-1988-9543-9542-07600789AFDB}" type="datetimeFigureOut">
              <a:rPr lang="en-US" smtClean="0"/>
              <a:t>2/7/24</a:t>
            </a:fld>
            <a:endParaRPr lang="en-US"/>
          </a:p>
        </p:txBody>
      </p:sp>
      <p:sp>
        <p:nvSpPr>
          <p:cNvPr id="6" name="Footer Placeholder 5"/>
          <p:cNvSpPr>
            <a:spLocks noGrp="1"/>
          </p:cNvSpPr>
          <p:nvPr>
            <p:ph type="ftr" sz="quarter" idx="11"/>
          </p:nvPr>
        </p:nvSpPr>
        <p:spPr>
          <a:xfrm>
            <a:off x="3124200" y="4767263"/>
            <a:ext cx="2895600" cy="273844"/>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A03896FF-2819-2F41-8D45-9177822C7E7D}" type="slidenum">
              <a:rPr lang="en-US" smtClean="0"/>
              <a:t>‹#›</a:t>
            </a:fld>
            <a:endParaRPr lang="en-US"/>
          </a:p>
        </p:txBody>
      </p:sp>
    </p:spTree>
    <p:extLst>
      <p:ext uri="{BB962C8B-B14F-4D97-AF65-F5344CB8AC3E}">
        <p14:creationId xmlns:p14="http://schemas.microsoft.com/office/powerpoint/2010/main" val="37394956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ounded Rectangle 6"/>
          <p:cNvSpPr/>
          <p:nvPr userDrawn="1"/>
        </p:nvSpPr>
        <p:spPr>
          <a:xfrm>
            <a:off x="-134470" y="290918"/>
            <a:ext cx="8821270" cy="824730"/>
          </a:xfrm>
          <a:prstGeom prst="roundRect">
            <a:avLst/>
          </a:prstGeom>
          <a:solidFill>
            <a:schemeClr val="bg2"/>
          </a:solidFill>
          <a:ln>
            <a:solidFill>
              <a:schemeClr val="bg2">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p:txBody>
          <a:bodyPr>
            <a:normAutofit/>
          </a:bodyPr>
          <a:lstStyle>
            <a:lvl1pPr>
              <a:defRPr sz="2800"/>
            </a:lvl1pPr>
          </a:lstStyle>
          <a:p>
            <a:r>
              <a:rPr lang="en-US" dirty="0"/>
              <a:t>Click to edit </a:t>
            </a:r>
            <a:br>
              <a:rPr lang="en-US" dirty="0"/>
            </a:br>
            <a:r>
              <a:rPr lang="en-US" dirty="0"/>
              <a:t>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9EE016B-1988-9543-9542-07600789AFDB}" type="datetimeFigureOut">
              <a:rPr lang="en-US" smtClean="0"/>
              <a:t>2/7/24</a:t>
            </a:fld>
            <a:endParaRPr lang="en-US"/>
          </a:p>
        </p:txBody>
      </p:sp>
      <p:sp>
        <p:nvSpPr>
          <p:cNvPr id="5" name="Footer Placeholder 4"/>
          <p:cNvSpPr>
            <a:spLocks noGrp="1"/>
          </p:cNvSpPr>
          <p:nvPr>
            <p:ph type="ftr" sz="quarter" idx="11"/>
          </p:nvPr>
        </p:nvSpPr>
        <p:spPr>
          <a:xfrm>
            <a:off x="3124200" y="4767263"/>
            <a:ext cx="2895600" cy="273844"/>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A03896FF-2819-2F41-8D45-9177822C7E7D}" type="slidenum">
              <a:rPr lang="en-US" smtClean="0"/>
              <a:t>‹#›</a:t>
            </a:fld>
            <a:endParaRPr lang="en-US"/>
          </a:p>
        </p:txBody>
      </p:sp>
    </p:spTree>
    <p:extLst>
      <p:ext uri="{BB962C8B-B14F-4D97-AF65-F5344CB8AC3E}">
        <p14:creationId xmlns:p14="http://schemas.microsoft.com/office/powerpoint/2010/main" val="41449457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ounded Rectangle 6"/>
          <p:cNvSpPr/>
          <p:nvPr userDrawn="1"/>
        </p:nvSpPr>
        <p:spPr>
          <a:xfrm>
            <a:off x="7227064" y="-313765"/>
            <a:ext cx="1459735" cy="4908388"/>
          </a:xfrm>
          <a:prstGeom prst="roundRect">
            <a:avLst/>
          </a:prstGeom>
          <a:solidFill>
            <a:schemeClr val="bg2"/>
          </a:solidFill>
          <a:ln>
            <a:solidFill>
              <a:schemeClr val="bg2">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Vertical Title 1"/>
          <p:cNvSpPr>
            <a:spLocks noGrp="1"/>
          </p:cNvSpPr>
          <p:nvPr>
            <p:ph type="title" orient="vert"/>
          </p:nvPr>
        </p:nvSpPr>
        <p:spPr>
          <a:xfrm>
            <a:off x="7227064" y="205979"/>
            <a:ext cx="1459736" cy="4388644"/>
          </a:xfrm>
        </p:spPr>
        <p:txBody>
          <a:bodyPr vert="eaVert">
            <a:normAutofit/>
          </a:bodyPr>
          <a:lstStyle>
            <a:lvl1pPr>
              <a:defRPr sz="2800"/>
            </a:lvl1pPr>
          </a:lstStyle>
          <a:p>
            <a:r>
              <a:rPr lang="en-US"/>
              <a:t>Click to edit Master title style</a:t>
            </a:r>
            <a:endParaRPr lang="en-US" dirty="0"/>
          </a:p>
        </p:txBody>
      </p:sp>
      <p:sp>
        <p:nvSpPr>
          <p:cNvPr id="3" name="Vertical Text Placeholder 2"/>
          <p:cNvSpPr>
            <a:spLocks noGrp="1"/>
          </p:cNvSpPr>
          <p:nvPr>
            <p:ph type="body" orient="vert" idx="1"/>
          </p:nvPr>
        </p:nvSpPr>
        <p:spPr>
          <a:xfrm>
            <a:off x="457200" y="205979"/>
            <a:ext cx="6019800" cy="4388644"/>
          </a:xfrm>
        </p:spPr>
        <p:txBody>
          <a:bodyPr vert="eaVert"/>
          <a:lstStyle>
            <a:lvl1pPr>
              <a:defRPr sz="28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9EE016B-1988-9543-9542-07600789AFDB}" type="datetimeFigureOut">
              <a:rPr lang="en-US" smtClean="0"/>
              <a:t>2/7/24</a:t>
            </a:fld>
            <a:endParaRPr lang="en-US"/>
          </a:p>
        </p:txBody>
      </p:sp>
      <p:sp>
        <p:nvSpPr>
          <p:cNvPr id="5" name="Footer Placeholder 4"/>
          <p:cNvSpPr>
            <a:spLocks noGrp="1"/>
          </p:cNvSpPr>
          <p:nvPr>
            <p:ph type="ftr" sz="quarter" idx="11"/>
          </p:nvPr>
        </p:nvSpPr>
        <p:spPr>
          <a:xfrm>
            <a:off x="3124200" y="4767263"/>
            <a:ext cx="2895600" cy="273844"/>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A03896FF-2819-2F41-8D45-9177822C7E7D}" type="slidenum">
              <a:rPr lang="en-US" smtClean="0"/>
              <a:t>‹#›</a:t>
            </a:fld>
            <a:endParaRPr lang="en-US"/>
          </a:p>
        </p:txBody>
      </p:sp>
    </p:spTree>
    <p:extLst>
      <p:ext uri="{BB962C8B-B14F-4D97-AF65-F5344CB8AC3E}">
        <p14:creationId xmlns:p14="http://schemas.microsoft.com/office/powerpoint/2010/main" val="34776041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176097"/>
            <a:ext cx="8229600" cy="994172"/>
          </a:xfrm>
          <a:prstGeom prst="rect">
            <a:avLst/>
          </a:prstGeom>
        </p:spPr>
        <p:txBody>
          <a:bodyPr vert="horz" lIns="91440" tIns="45720" rIns="91440" bIns="45720" rtlCol="0" anchor="ctr">
            <a:normAutofit/>
          </a:bodyPr>
          <a:lstStyle/>
          <a:p>
            <a:r>
              <a:rPr lang="en-US" dirty="0"/>
              <a:t>Click to edit </a:t>
            </a:r>
            <a:br>
              <a:rPr lang="en-US" dirty="0"/>
            </a:br>
            <a:r>
              <a:rPr lang="en-US" dirty="0"/>
              <a:t>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latin typeface="Calibri" charset="0"/>
                <a:ea typeface="Calibri" charset="0"/>
                <a:cs typeface="Calibri" charset="0"/>
              </a:defRPr>
            </a:lvl1pPr>
          </a:lstStyle>
          <a:p>
            <a:fld id="{89EE016B-1988-9543-9542-07600789AFDB}" type="datetimeFigureOut">
              <a:rPr lang="en-US" smtClean="0"/>
              <a:pPr/>
              <a:t>2/7/24</a:t>
            </a:fld>
            <a:endParaRPr lang="en-US" dirty="0"/>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latin typeface="Calibri" charset="0"/>
                <a:ea typeface="Calibri" charset="0"/>
                <a:cs typeface="Calibri" charset="0"/>
              </a:defRPr>
            </a:lvl1pPr>
          </a:lstStyle>
          <a:p>
            <a:fld id="{A03896FF-2819-2F41-8D45-9177822C7E7D}" type="slidenum">
              <a:rPr lang="en-US" smtClean="0"/>
              <a:pPr/>
              <a:t>‹#›</a:t>
            </a:fld>
            <a:endParaRPr lang="en-US" dirty="0"/>
          </a:p>
        </p:txBody>
      </p:sp>
    </p:spTree>
    <p:extLst>
      <p:ext uri="{BB962C8B-B14F-4D97-AF65-F5344CB8AC3E}">
        <p14:creationId xmlns:p14="http://schemas.microsoft.com/office/powerpoint/2010/main" val="25197285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7" r:id="rId10"/>
    <p:sldLayoutId id="2147483658" r:id="rId11"/>
    <p:sldLayoutId id="2147483659" r:id="rId12"/>
  </p:sldLayoutIdLst>
  <p:txStyles>
    <p:titleStyle>
      <a:lvl1pPr algn="l" defTabSz="457200" rtl="0" eaLnBrk="1" latinLnBrk="0" hangingPunct="1">
        <a:spcBef>
          <a:spcPct val="0"/>
        </a:spcBef>
        <a:buNone/>
        <a:defRPr sz="2800" b="1" i="0" kern="1200">
          <a:solidFill>
            <a:schemeClr val="tx1"/>
          </a:solidFill>
          <a:latin typeface="Calibri" charset="0"/>
          <a:ea typeface="Calibri" charset="0"/>
          <a:cs typeface="Calibri" charset="0"/>
        </a:defRPr>
      </a:lvl1pPr>
    </p:titleStyle>
    <p:bodyStyle>
      <a:lvl1pPr marL="342900" indent="-342900" algn="l" defTabSz="457200" rtl="0" eaLnBrk="1" latinLnBrk="0" hangingPunct="1">
        <a:spcBef>
          <a:spcPct val="20000"/>
        </a:spcBef>
        <a:buFont typeface="Arial"/>
        <a:buChar char="•"/>
        <a:defRPr sz="2800" kern="1200">
          <a:solidFill>
            <a:schemeClr val="tx1"/>
          </a:solidFill>
          <a:latin typeface="Calibri" charset="0"/>
          <a:ea typeface="Calibri" charset="0"/>
          <a:cs typeface="Calibri" charset="0"/>
        </a:defRPr>
      </a:lvl1pPr>
      <a:lvl2pPr marL="742950" indent="-285750" algn="l" defTabSz="457200" rtl="0" eaLnBrk="1" latinLnBrk="0" hangingPunct="1">
        <a:spcBef>
          <a:spcPct val="20000"/>
        </a:spcBef>
        <a:buFont typeface="Arial"/>
        <a:buChar char="–"/>
        <a:defRPr sz="2800" kern="1200">
          <a:solidFill>
            <a:schemeClr val="tx1"/>
          </a:solidFill>
          <a:latin typeface="Calibri" charset="0"/>
          <a:ea typeface="Calibri" charset="0"/>
          <a:cs typeface="Calibri" charset="0"/>
        </a:defRPr>
      </a:lvl2pPr>
      <a:lvl3pPr marL="1143000" indent="-228600" algn="l" defTabSz="457200" rtl="0" eaLnBrk="1" latinLnBrk="0" hangingPunct="1">
        <a:spcBef>
          <a:spcPct val="20000"/>
        </a:spcBef>
        <a:buFont typeface="Arial"/>
        <a:buChar char="•"/>
        <a:defRPr sz="2400" kern="1200">
          <a:solidFill>
            <a:schemeClr val="tx1"/>
          </a:solidFill>
          <a:latin typeface="Calibri" charset="0"/>
          <a:ea typeface="Calibri" charset="0"/>
          <a:cs typeface="Calibri" charset="0"/>
        </a:defRPr>
      </a:lvl3pPr>
      <a:lvl4pPr marL="1600200" indent="-228600" algn="l" defTabSz="457200" rtl="0" eaLnBrk="1" latinLnBrk="0" hangingPunct="1">
        <a:spcBef>
          <a:spcPct val="20000"/>
        </a:spcBef>
        <a:buFont typeface="Arial"/>
        <a:buChar char="–"/>
        <a:defRPr sz="2400" kern="1200">
          <a:solidFill>
            <a:schemeClr val="tx1"/>
          </a:solidFill>
          <a:latin typeface="Calibri" charset="0"/>
          <a:ea typeface="Calibri" charset="0"/>
          <a:cs typeface="Calibri" charset="0"/>
        </a:defRPr>
      </a:lvl4pPr>
      <a:lvl5pPr marL="2057400" indent="-228600" algn="l" defTabSz="457200" rtl="0" eaLnBrk="1" latinLnBrk="0" hangingPunct="1">
        <a:spcBef>
          <a:spcPct val="20000"/>
        </a:spcBef>
        <a:buFont typeface="Arial"/>
        <a:buChar char="»"/>
        <a:defRPr sz="2400" kern="1200">
          <a:solidFill>
            <a:schemeClr val="tx1"/>
          </a:solidFill>
          <a:latin typeface="Calibri" charset="0"/>
          <a:ea typeface="Calibri" charset="0"/>
          <a:cs typeface="Calibri"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lgn="l"/>
            <a:r>
              <a:rPr lang="en-US" b="1" dirty="0">
                <a:solidFill>
                  <a:schemeClr val="tx1"/>
                </a:solidFill>
              </a:rPr>
              <a:t>WFU BIO783: Instructional Methods</a:t>
            </a:r>
          </a:p>
        </p:txBody>
      </p:sp>
      <p:sp>
        <p:nvSpPr>
          <p:cNvPr id="3" name="Subtitle 2"/>
          <p:cNvSpPr>
            <a:spLocks noGrp="1"/>
          </p:cNvSpPr>
          <p:nvPr>
            <p:ph type="subTitle" idx="1"/>
          </p:nvPr>
        </p:nvSpPr>
        <p:spPr>
          <a:xfrm>
            <a:off x="685800" y="3462866"/>
            <a:ext cx="7541046" cy="1312333"/>
          </a:xfrm>
        </p:spPr>
        <p:txBody>
          <a:bodyPr>
            <a:normAutofit/>
          </a:bodyPr>
          <a:lstStyle/>
          <a:p>
            <a:pPr algn="l"/>
            <a:r>
              <a:rPr lang="en-US" b="1" dirty="0">
                <a:solidFill>
                  <a:schemeClr val="tx1"/>
                </a:solidFill>
              </a:rPr>
              <a:t>Spring 2024</a:t>
            </a:r>
          </a:p>
        </p:txBody>
      </p:sp>
      <p:pic>
        <p:nvPicPr>
          <p:cNvPr id="4" name="Picture 3" descr="Biology_logo_rebuilt.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1354" y="135944"/>
            <a:ext cx="1299991" cy="1296741"/>
          </a:xfrm>
          <a:prstGeom prst="rect">
            <a:avLst/>
          </a:prstGeom>
        </p:spPr>
      </p:pic>
    </p:spTree>
    <p:extLst>
      <p:ext uri="{BB962C8B-B14F-4D97-AF65-F5344CB8AC3E}">
        <p14:creationId xmlns:p14="http://schemas.microsoft.com/office/powerpoint/2010/main" val="3787178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7AF0F8-034A-15CE-790C-16FB9258FF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AA9E9C-470E-21EE-D822-F878A934C6FE}"/>
              </a:ext>
            </a:extLst>
          </p:cNvPr>
          <p:cNvSpPr>
            <a:spLocks noGrp="1"/>
          </p:cNvSpPr>
          <p:nvPr>
            <p:ph type="ctrTitle"/>
          </p:nvPr>
        </p:nvSpPr>
        <p:spPr/>
        <p:txBody>
          <a:bodyPr/>
          <a:lstStyle/>
          <a:p>
            <a:r>
              <a:rPr lang="en-US" dirty="0"/>
              <a:t>What Is “Essential Knowledge”?</a:t>
            </a:r>
          </a:p>
        </p:txBody>
      </p:sp>
      <p:pic>
        <p:nvPicPr>
          <p:cNvPr id="4" name="Picture 3" descr="Biology_logo_rebuilt.jpg">
            <a:extLst>
              <a:ext uri="{FF2B5EF4-FFF2-40B4-BE49-F238E27FC236}">
                <a16:creationId xmlns:a16="http://schemas.microsoft.com/office/drawing/2014/main" id="{AE7EB642-9304-8B3F-17EA-579E38369F0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1354" y="135944"/>
            <a:ext cx="1299991" cy="1296741"/>
          </a:xfrm>
          <a:prstGeom prst="rect">
            <a:avLst/>
          </a:prstGeom>
        </p:spPr>
      </p:pic>
    </p:spTree>
    <p:extLst>
      <p:ext uri="{BB962C8B-B14F-4D97-AF65-F5344CB8AC3E}">
        <p14:creationId xmlns:p14="http://schemas.microsoft.com/office/powerpoint/2010/main" val="28636073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1BBEBE-39EF-8584-0D0E-3A7A2F7642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E4CBF8-6FAA-6EBA-DDA2-D00DAE47AD58}"/>
              </a:ext>
            </a:extLst>
          </p:cNvPr>
          <p:cNvSpPr>
            <a:spLocks noGrp="1"/>
          </p:cNvSpPr>
          <p:nvPr>
            <p:ph type="title"/>
          </p:nvPr>
        </p:nvSpPr>
        <p:spPr>
          <a:xfrm>
            <a:off x="304800" y="202782"/>
            <a:ext cx="8352118" cy="857250"/>
          </a:xfrm>
        </p:spPr>
        <p:txBody>
          <a:bodyPr/>
          <a:lstStyle/>
          <a:p>
            <a:r>
              <a:rPr lang="en-US" dirty="0"/>
              <a:t>Essential Knowledge: </a:t>
            </a:r>
            <a:r>
              <a:rPr lang="en-US" b="0" dirty="0"/>
              <a:t>Knowledge Domains</a:t>
            </a:r>
          </a:p>
        </p:txBody>
      </p:sp>
      <p:sp>
        <p:nvSpPr>
          <p:cNvPr id="3" name="Content Placeholder 2">
            <a:extLst>
              <a:ext uri="{FF2B5EF4-FFF2-40B4-BE49-F238E27FC236}">
                <a16:creationId xmlns:a16="http://schemas.microsoft.com/office/drawing/2014/main" id="{A2D49166-EA9D-C58F-D4F1-EDD64CAAC4C4}"/>
              </a:ext>
            </a:extLst>
          </p:cNvPr>
          <p:cNvSpPr>
            <a:spLocks noGrp="1"/>
          </p:cNvSpPr>
          <p:nvPr>
            <p:ph idx="1"/>
          </p:nvPr>
        </p:nvSpPr>
        <p:spPr>
          <a:xfrm>
            <a:off x="940526" y="1515291"/>
            <a:ext cx="7746274" cy="3079331"/>
          </a:xfrm>
        </p:spPr>
        <p:txBody>
          <a:bodyPr/>
          <a:lstStyle/>
          <a:p>
            <a:pPr marL="0" indent="0">
              <a:buNone/>
            </a:pPr>
            <a:r>
              <a:rPr lang="en-US" dirty="0"/>
              <a:t>Knowledge (broadly defined) can be divided into two general domains:</a:t>
            </a:r>
          </a:p>
          <a:p>
            <a:r>
              <a:rPr lang="en-US" b="1" dirty="0"/>
              <a:t>Disciplinary</a:t>
            </a:r>
            <a:r>
              <a:rPr lang="en-US" dirty="0"/>
              <a:t> </a:t>
            </a:r>
            <a:r>
              <a:rPr lang="en-US" b="1" dirty="0"/>
              <a:t>knowledge</a:t>
            </a:r>
            <a:r>
              <a:rPr lang="en-US" dirty="0"/>
              <a:t> that provides a basis for logic, thinking, and understanding within a field </a:t>
            </a:r>
          </a:p>
          <a:p>
            <a:r>
              <a:rPr lang="en-US" b="1" dirty="0"/>
              <a:t>General knowledge</a:t>
            </a:r>
            <a:r>
              <a:rPr lang="en-US" dirty="0"/>
              <a:t> that is relevant independent of disciplinary context</a:t>
            </a:r>
          </a:p>
        </p:txBody>
      </p:sp>
    </p:spTree>
    <p:extLst>
      <p:ext uri="{BB962C8B-B14F-4D97-AF65-F5344CB8AC3E}">
        <p14:creationId xmlns:p14="http://schemas.microsoft.com/office/powerpoint/2010/main" val="13986584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6472B3-3F37-30D6-8486-F29224D6BB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C8F517-EB7F-3DE8-7DA1-8A703E78CF6F}"/>
              </a:ext>
            </a:extLst>
          </p:cNvPr>
          <p:cNvSpPr>
            <a:spLocks noGrp="1"/>
          </p:cNvSpPr>
          <p:nvPr>
            <p:ph type="title"/>
          </p:nvPr>
        </p:nvSpPr>
        <p:spPr/>
        <p:txBody>
          <a:bodyPr/>
          <a:lstStyle/>
          <a:p>
            <a:r>
              <a:rPr lang="en-US" sz="2400" dirty="0"/>
              <a:t>Essential Disciplinary Knowledge: </a:t>
            </a:r>
            <a:r>
              <a:rPr lang="en-US" sz="2400" b="0" dirty="0"/>
              <a:t>Vision &amp; Change 2011</a:t>
            </a:r>
          </a:p>
        </p:txBody>
      </p:sp>
      <p:sp>
        <p:nvSpPr>
          <p:cNvPr id="3" name="Content Placeholder 2">
            <a:extLst>
              <a:ext uri="{FF2B5EF4-FFF2-40B4-BE49-F238E27FC236}">
                <a16:creationId xmlns:a16="http://schemas.microsoft.com/office/drawing/2014/main" id="{58058BF5-1620-7DA3-96BD-7A266DEDEB16}"/>
              </a:ext>
            </a:extLst>
          </p:cNvPr>
          <p:cNvSpPr>
            <a:spLocks noGrp="1"/>
          </p:cNvSpPr>
          <p:nvPr>
            <p:ph idx="1"/>
          </p:nvPr>
        </p:nvSpPr>
        <p:spPr>
          <a:xfrm>
            <a:off x="457200" y="1200150"/>
            <a:ext cx="8122778" cy="3943350"/>
          </a:xfrm>
        </p:spPr>
        <p:txBody>
          <a:bodyPr>
            <a:normAutofit fontScale="92500" lnSpcReduction="20000"/>
          </a:bodyPr>
          <a:lstStyle/>
          <a:p>
            <a:pPr marL="0" indent="0">
              <a:buNone/>
            </a:pPr>
            <a:r>
              <a:rPr lang="en-US" sz="2600" u="sng" dirty="0"/>
              <a:t>Five Core Areas of Disciplinary Knowledge</a:t>
            </a:r>
          </a:p>
          <a:p>
            <a:pPr marL="514350" indent="-514350">
              <a:buFont typeface="+mj-lt"/>
              <a:buAutoNum type="arabicPeriod"/>
            </a:pPr>
            <a:r>
              <a:rPr lang="en-US" sz="2000" dirty="0"/>
              <a:t>EVOLUTION: </a:t>
            </a:r>
            <a:br>
              <a:rPr lang="en-US" sz="2000" dirty="0"/>
            </a:br>
            <a:r>
              <a:rPr lang="en-US" sz="2000" dirty="0"/>
              <a:t>Diversity of life evolved over time by processes of mutation, selection, genetic change.</a:t>
            </a:r>
          </a:p>
          <a:p>
            <a:pPr marL="514350" indent="-514350">
              <a:buFont typeface="+mj-lt"/>
              <a:buAutoNum type="arabicPeriod"/>
            </a:pPr>
            <a:r>
              <a:rPr lang="en-US" sz="2000" dirty="0"/>
              <a:t>STRUCTURE AND FUNCTION: </a:t>
            </a:r>
            <a:br>
              <a:rPr lang="en-US" sz="2000" dirty="0"/>
            </a:br>
            <a:r>
              <a:rPr lang="en-US" sz="2000" dirty="0"/>
              <a:t>Basic units of structure define function of all living things.</a:t>
            </a:r>
          </a:p>
          <a:p>
            <a:pPr marL="514350" indent="-514350">
              <a:buFont typeface="+mj-lt"/>
              <a:buAutoNum type="arabicPeriod"/>
            </a:pPr>
            <a:r>
              <a:rPr lang="en-US" sz="2000" dirty="0"/>
              <a:t>INFORMATION FLOW, EXCHANGE, AND STORAGE: </a:t>
            </a:r>
            <a:br>
              <a:rPr lang="en-US" sz="2000" dirty="0"/>
            </a:br>
            <a:r>
              <a:rPr lang="en-US" sz="2000" dirty="0"/>
              <a:t>Growth, behavior of organisms are expressions of genetic information in context.</a:t>
            </a:r>
          </a:p>
          <a:p>
            <a:pPr marL="514350" indent="-514350">
              <a:buFont typeface="+mj-lt"/>
              <a:buAutoNum type="arabicPeriod"/>
            </a:pPr>
            <a:r>
              <a:rPr lang="en-US" sz="2000" dirty="0"/>
              <a:t>PATHWAYS AND TRANSFORMATIONS OF ENERGY AND MATTER: </a:t>
            </a:r>
            <a:br>
              <a:rPr lang="en-US" sz="2000" dirty="0"/>
            </a:br>
            <a:r>
              <a:rPr lang="en-US" sz="2000" dirty="0"/>
              <a:t>Biological systems grow, change by processes based upon chemical transformation pathways governed by laws of thermodynamics.</a:t>
            </a:r>
          </a:p>
          <a:p>
            <a:pPr marL="514350" indent="-514350">
              <a:buFont typeface="+mj-lt"/>
              <a:buAutoNum type="arabicPeriod"/>
            </a:pPr>
            <a:r>
              <a:rPr lang="en-US" sz="2000" dirty="0"/>
              <a:t>SYSTEMS: </a:t>
            </a:r>
            <a:br>
              <a:rPr lang="en-US" sz="2000" dirty="0"/>
            </a:br>
            <a:r>
              <a:rPr lang="en-US" sz="2000" dirty="0"/>
              <a:t>Living systems are interconnected and interacting.</a:t>
            </a:r>
          </a:p>
        </p:txBody>
      </p:sp>
    </p:spTree>
    <p:extLst>
      <p:ext uri="{BB962C8B-B14F-4D97-AF65-F5344CB8AC3E}">
        <p14:creationId xmlns:p14="http://schemas.microsoft.com/office/powerpoint/2010/main" val="25156035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CE6CC8-36BC-24E9-392C-7A851E739F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9030BB-EC70-23F2-F363-9DD06EA8420A}"/>
              </a:ext>
            </a:extLst>
          </p:cNvPr>
          <p:cNvSpPr>
            <a:spLocks noGrp="1"/>
          </p:cNvSpPr>
          <p:nvPr>
            <p:ph type="title"/>
          </p:nvPr>
        </p:nvSpPr>
        <p:spPr/>
        <p:txBody>
          <a:bodyPr/>
          <a:lstStyle/>
          <a:p>
            <a:r>
              <a:rPr lang="en-US" dirty="0"/>
              <a:t>Essential Biology Knowledge: </a:t>
            </a:r>
            <a:r>
              <a:rPr lang="en-US" b="0" dirty="0"/>
              <a:t>Vision &amp; Change ‘11</a:t>
            </a:r>
          </a:p>
        </p:txBody>
      </p:sp>
      <p:sp>
        <p:nvSpPr>
          <p:cNvPr id="3" name="Content Placeholder 2">
            <a:extLst>
              <a:ext uri="{FF2B5EF4-FFF2-40B4-BE49-F238E27FC236}">
                <a16:creationId xmlns:a16="http://schemas.microsoft.com/office/drawing/2014/main" id="{C97F5F71-FA88-2298-58F2-D80B383744B3}"/>
              </a:ext>
            </a:extLst>
          </p:cNvPr>
          <p:cNvSpPr>
            <a:spLocks noGrp="1"/>
          </p:cNvSpPr>
          <p:nvPr>
            <p:ph idx="1"/>
          </p:nvPr>
        </p:nvSpPr>
        <p:spPr>
          <a:xfrm>
            <a:off x="457199" y="1200150"/>
            <a:ext cx="8310785" cy="3943350"/>
          </a:xfrm>
        </p:spPr>
        <p:txBody>
          <a:bodyPr>
            <a:normAutofit fontScale="85000" lnSpcReduction="10000"/>
          </a:bodyPr>
          <a:lstStyle/>
          <a:p>
            <a:pPr marL="0" indent="0">
              <a:buNone/>
            </a:pPr>
            <a:r>
              <a:rPr lang="en-US" sz="2600" u="sng" dirty="0"/>
              <a:t>Six Core Competencies/Abilities</a:t>
            </a:r>
          </a:p>
          <a:p>
            <a:pPr marL="514350" indent="-514350">
              <a:buFont typeface="+mj-lt"/>
              <a:buAutoNum type="arabicPeriod"/>
            </a:pPr>
            <a:r>
              <a:rPr lang="en-US" sz="2000" dirty="0"/>
              <a:t>CAN APPLY PROCESS OF SCIENCE: </a:t>
            </a:r>
            <a:br>
              <a:rPr lang="en-US" sz="2000" dirty="0"/>
            </a:br>
            <a:r>
              <a:rPr lang="en-US" sz="2000" dirty="0"/>
              <a:t>Biology is evidence based, grounded in formal practices of observation, experimentation, and hypothesis testing.</a:t>
            </a:r>
          </a:p>
          <a:p>
            <a:pPr marL="514350" indent="-514350">
              <a:buFont typeface="+mj-lt"/>
              <a:buAutoNum type="arabicPeriod"/>
            </a:pPr>
            <a:r>
              <a:rPr lang="en-US" sz="2000" dirty="0"/>
              <a:t>CAN USE QUANTITATIVE REASONING: </a:t>
            </a:r>
            <a:br>
              <a:rPr lang="en-US" sz="2000" dirty="0"/>
            </a:br>
            <a:r>
              <a:rPr lang="en-US" sz="2000" dirty="0"/>
              <a:t>Biology relies on applications of quantitative analysis and mathematical reasoning.</a:t>
            </a:r>
          </a:p>
          <a:p>
            <a:pPr marL="514350" indent="-514350">
              <a:buFont typeface="+mj-lt"/>
              <a:buAutoNum type="arabicPeriod"/>
            </a:pPr>
            <a:r>
              <a:rPr lang="en-US" sz="2000" dirty="0"/>
              <a:t>CAN USE MODELING AND SIMULATION: </a:t>
            </a:r>
            <a:br>
              <a:rPr lang="en-US" sz="2000" dirty="0"/>
            </a:br>
            <a:r>
              <a:rPr lang="en-US" sz="2000" dirty="0"/>
              <a:t>Biology focuses on the study of complex systems.</a:t>
            </a:r>
          </a:p>
          <a:p>
            <a:pPr marL="514350" indent="-514350">
              <a:buFont typeface="+mj-lt"/>
              <a:buAutoNum type="arabicPeriod"/>
            </a:pPr>
            <a:r>
              <a:rPr lang="en-US" sz="2000" dirty="0"/>
              <a:t>CAN TAP INTO INTERDISCIPLINARY NATURE OF SCIENCE: </a:t>
            </a:r>
            <a:br>
              <a:rPr lang="en-US" sz="2000" dirty="0"/>
            </a:br>
            <a:r>
              <a:rPr lang="en-US" sz="2000" dirty="0"/>
              <a:t>Biology is an interdisciplinary science.</a:t>
            </a:r>
          </a:p>
          <a:p>
            <a:pPr marL="514350" indent="-514350">
              <a:buFont typeface="+mj-lt"/>
              <a:buAutoNum type="arabicPeriod"/>
            </a:pPr>
            <a:r>
              <a:rPr lang="en-US" sz="2000" dirty="0"/>
              <a:t>CAN COMMUNICATE AND COLLABORATE WITH OTHER DISCIPLINES: </a:t>
            </a:r>
            <a:br>
              <a:rPr lang="en-US" sz="2000" dirty="0"/>
            </a:br>
            <a:r>
              <a:rPr lang="en-US" sz="2000" dirty="0"/>
              <a:t>Biology is a collaborative scientific discipline.</a:t>
            </a:r>
          </a:p>
          <a:p>
            <a:pPr marL="514350" indent="-514350">
              <a:buFont typeface="+mj-lt"/>
              <a:buAutoNum type="arabicPeriod"/>
            </a:pPr>
            <a:r>
              <a:rPr lang="en-US" sz="2000" dirty="0"/>
              <a:t>CAN UNDERSTAND THE RELATIONSHIP BETWEEN SCIENCE AND SOCIETY: </a:t>
            </a:r>
            <a:br>
              <a:rPr lang="en-US" sz="2000" dirty="0"/>
            </a:br>
            <a:r>
              <a:rPr lang="en-US" sz="2000" dirty="0"/>
              <a:t>Biology is conducted in a societal context.</a:t>
            </a:r>
          </a:p>
        </p:txBody>
      </p:sp>
    </p:spTree>
    <p:extLst>
      <p:ext uri="{BB962C8B-B14F-4D97-AF65-F5344CB8AC3E}">
        <p14:creationId xmlns:p14="http://schemas.microsoft.com/office/powerpoint/2010/main" val="36861873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E0200-7C24-F075-93B5-F1FCDE42DF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1A265A-9E6D-B0F5-930E-B89DEC46E72F}"/>
              </a:ext>
            </a:extLst>
          </p:cNvPr>
          <p:cNvSpPr>
            <a:spLocks noGrp="1"/>
          </p:cNvSpPr>
          <p:nvPr>
            <p:ph type="title"/>
          </p:nvPr>
        </p:nvSpPr>
        <p:spPr/>
        <p:txBody>
          <a:bodyPr/>
          <a:lstStyle/>
          <a:p>
            <a:r>
              <a:rPr lang="en-US" dirty="0"/>
              <a:t>Essential Disciplinary Knowledge: </a:t>
            </a:r>
            <a:r>
              <a:rPr lang="en-US" b="0" dirty="0"/>
              <a:t>Brownell, 2014</a:t>
            </a:r>
          </a:p>
        </p:txBody>
      </p:sp>
      <p:pic>
        <p:nvPicPr>
          <p:cNvPr id="7" name="Picture 6">
            <a:extLst>
              <a:ext uri="{FF2B5EF4-FFF2-40B4-BE49-F238E27FC236}">
                <a16:creationId xmlns:a16="http://schemas.microsoft.com/office/drawing/2014/main" id="{CE0F4CE7-619F-44C4-C180-FBD9FAAC2E0E}"/>
              </a:ext>
            </a:extLst>
          </p:cNvPr>
          <p:cNvPicPr>
            <a:picLocks noChangeAspect="1"/>
          </p:cNvPicPr>
          <p:nvPr/>
        </p:nvPicPr>
        <p:blipFill>
          <a:blip r:embed="rId2"/>
          <a:stretch>
            <a:fillRect/>
          </a:stretch>
        </p:blipFill>
        <p:spPr>
          <a:xfrm>
            <a:off x="3821624" y="1045858"/>
            <a:ext cx="4865176" cy="4097642"/>
          </a:xfrm>
          <a:prstGeom prst="rect">
            <a:avLst/>
          </a:prstGeom>
        </p:spPr>
      </p:pic>
      <p:sp>
        <p:nvSpPr>
          <p:cNvPr id="13" name="Content Placeholder 2">
            <a:extLst>
              <a:ext uri="{FF2B5EF4-FFF2-40B4-BE49-F238E27FC236}">
                <a16:creationId xmlns:a16="http://schemas.microsoft.com/office/drawing/2014/main" id="{54EA2ED3-F177-9B69-2461-06006E5BB21A}"/>
              </a:ext>
            </a:extLst>
          </p:cNvPr>
          <p:cNvSpPr>
            <a:spLocks noGrp="1"/>
          </p:cNvSpPr>
          <p:nvPr>
            <p:ph idx="1"/>
          </p:nvPr>
        </p:nvSpPr>
        <p:spPr>
          <a:xfrm>
            <a:off x="239374" y="1444239"/>
            <a:ext cx="3657508" cy="3345475"/>
          </a:xfrm>
        </p:spPr>
        <p:txBody>
          <a:bodyPr>
            <a:normAutofit/>
          </a:bodyPr>
          <a:lstStyle/>
          <a:p>
            <a:pPr marL="0" indent="0">
              <a:buNone/>
            </a:pPr>
            <a:r>
              <a:rPr lang="en-US" sz="2400" dirty="0"/>
              <a:t>First widely used set of outcomes-oriented learning goals for </a:t>
            </a:r>
            <a:r>
              <a:rPr lang="en-US" sz="2400" dirty="0" err="1"/>
              <a:t>gen’l</a:t>
            </a:r>
            <a:r>
              <a:rPr lang="en-US" sz="2400" dirty="0"/>
              <a:t> biology</a:t>
            </a:r>
          </a:p>
          <a:p>
            <a:r>
              <a:rPr lang="en-US" sz="2400" dirty="0"/>
              <a:t>Model for specialized fields (micro, neuro, genetics, etc.)</a:t>
            </a:r>
          </a:p>
        </p:txBody>
      </p:sp>
    </p:spTree>
    <p:extLst>
      <p:ext uri="{BB962C8B-B14F-4D97-AF65-F5344CB8AC3E}">
        <p14:creationId xmlns:p14="http://schemas.microsoft.com/office/powerpoint/2010/main" val="2797043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3A2383-C900-D6B3-AB31-22591A4563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A98C65-B759-27E8-0359-AC8436B66C42}"/>
              </a:ext>
            </a:extLst>
          </p:cNvPr>
          <p:cNvSpPr>
            <a:spLocks noGrp="1"/>
          </p:cNvSpPr>
          <p:nvPr>
            <p:ph type="title"/>
          </p:nvPr>
        </p:nvSpPr>
        <p:spPr/>
        <p:txBody>
          <a:bodyPr/>
          <a:lstStyle/>
          <a:p>
            <a:r>
              <a:rPr lang="en-US" dirty="0"/>
              <a:t>Essential Disciplinary Knowledge: </a:t>
            </a:r>
            <a:r>
              <a:rPr lang="en-US" b="0" dirty="0"/>
              <a:t>Brownell, 2014</a:t>
            </a:r>
          </a:p>
        </p:txBody>
      </p:sp>
      <p:pic>
        <p:nvPicPr>
          <p:cNvPr id="7" name="Picture 6">
            <a:extLst>
              <a:ext uri="{FF2B5EF4-FFF2-40B4-BE49-F238E27FC236}">
                <a16:creationId xmlns:a16="http://schemas.microsoft.com/office/drawing/2014/main" id="{A91FC8BB-6619-9E6B-D710-EE52BD91D084}"/>
              </a:ext>
            </a:extLst>
          </p:cNvPr>
          <p:cNvPicPr>
            <a:picLocks noChangeAspect="1"/>
          </p:cNvPicPr>
          <p:nvPr/>
        </p:nvPicPr>
        <p:blipFill rotWithShape="1">
          <a:blip r:embed="rId2"/>
          <a:srcRect t="17647" b="12905"/>
          <a:stretch/>
        </p:blipFill>
        <p:spPr>
          <a:xfrm>
            <a:off x="1455701" y="1135875"/>
            <a:ext cx="6387582" cy="3736240"/>
          </a:xfrm>
          <a:prstGeom prst="rect">
            <a:avLst/>
          </a:prstGeom>
        </p:spPr>
      </p:pic>
      <p:sp>
        <p:nvSpPr>
          <p:cNvPr id="10" name="TextBox 9">
            <a:extLst>
              <a:ext uri="{FF2B5EF4-FFF2-40B4-BE49-F238E27FC236}">
                <a16:creationId xmlns:a16="http://schemas.microsoft.com/office/drawing/2014/main" id="{A5FEF116-890A-5B44-8033-1A9534102418}"/>
              </a:ext>
            </a:extLst>
          </p:cNvPr>
          <p:cNvSpPr txBox="1"/>
          <p:nvPr/>
        </p:nvSpPr>
        <p:spPr>
          <a:xfrm>
            <a:off x="2704933" y="4802215"/>
            <a:ext cx="888385" cy="276999"/>
          </a:xfrm>
          <a:prstGeom prst="rect">
            <a:avLst/>
          </a:prstGeom>
          <a:noFill/>
        </p:spPr>
        <p:txBody>
          <a:bodyPr wrap="none" rtlCol="0">
            <a:spAutoFit/>
          </a:bodyPr>
          <a:lstStyle/>
          <a:p>
            <a:r>
              <a:rPr lang="en-US" sz="1200" dirty="0">
                <a:latin typeface="Calibri" panose="020F0502020204030204" pitchFamily="34" charset="0"/>
                <a:cs typeface="Calibri" panose="020F0502020204030204" pitchFamily="34" charset="0"/>
              </a:rPr>
              <a:t>Cells, mols.</a:t>
            </a:r>
          </a:p>
        </p:txBody>
      </p:sp>
      <p:sp>
        <p:nvSpPr>
          <p:cNvPr id="11" name="TextBox 10">
            <a:extLst>
              <a:ext uri="{FF2B5EF4-FFF2-40B4-BE49-F238E27FC236}">
                <a16:creationId xmlns:a16="http://schemas.microsoft.com/office/drawing/2014/main" id="{F91AD7B7-5516-DADA-2370-878B25AFD6B8}"/>
              </a:ext>
            </a:extLst>
          </p:cNvPr>
          <p:cNvSpPr txBox="1"/>
          <p:nvPr/>
        </p:nvSpPr>
        <p:spPr>
          <a:xfrm>
            <a:off x="4649492" y="4802215"/>
            <a:ext cx="661271" cy="276999"/>
          </a:xfrm>
          <a:prstGeom prst="rect">
            <a:avLst/>
          </a:prstGeom>
          <a:noFill/>
        </p:spPr>
        <p:txBody>
          <a:bodyPr wrap="none" rtlCol="0">
            <a:spAutoFit/>
          </a:bodyPr>
          <a:lstStyle/>
          <a:p>
            <a:r>
              <a:rPr lang="en-US" sz="1200" dirty="0">
                <a:latin typeface="Calibri" panose="020F0502020204030204" pitchFamily="34" charset="0"/>
                <a:cs typeface="Calibri" panose="020F0502020204030204" pitchFamily="34" charset="0"/>
              </a:rPr>
              <a:t>Physiol.</a:t>
            </a:r>
          </a:p>
        </p:txBody>
      </p:sp>
      <p:sp>
        <p:nvSpPr>
          <p:cNvPr id="12" name="TextBox 11">
            <a:extLst>
              <a:ext uri="{FF2B5EF4-FFF2-40B4-BE49-F238E27FC236}">
                <a16:creationId xmlns:a16="http://schemas.microsoft.com/office/drawing/2014/main" id="{16FFA27B-A4AD-7F72-869D-BE64CE70BEAC}"/>
              </a:ext>
            </a:extLst>
          </p:cNvPr>
          <p:cNvSpPr txBox="1"/>
          <p:nvPr/>
        </p:nvSpPr>
        <p:spPr>
          <a:xfrm>
            <a:off x="6460941" y="4802215"/>
            <a:ext cx="684418" cy="276999"/>
          </a:xfrm>
          <a:prstGeom prst="rect">
            <a:avLst/>
          </a:prstGeom>
          <a:noFill/>
        </p:spPr>
        <p:txBody>
          <a:bodyPr wrap="none" rtlCol="0">
            <a:spAutoFit/>
          </a:bodyPr>
          <a:lstStyle/>
          <a:p>
            <a:r>
              <a:rPr lang="en-US" sz="1200" dirty="0">
                <a:latin typeface="Calibri" panose="020F0502020204030204" pitchFamily="34" charset="0"/>
                <a:cs typeface="Calibri" panose="020F0502020204030204" pitchFamily="34" charset="0"/>
              </a:rPr>
              <a:t>Eco/Evo</a:t>
            </a:r>
          </a:p>
        </p:txBody>
      </p:sp>
    </p:spTree>
    <p:extLst>
      <p:ext uri="{BB962C8B-B14F-4D97-AF65-F5344CB8AC3E}">
        <p14:creationId xmlns:p14="http://schemas.microsoft.com/office/powerpoint/2010/main" val="36145048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97F1DC-116B-525E-A2C4-693BF9EE5B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204010-41EE-B111-B37E-141B9974DD57}"/>
              </a:ext>
            </a:extLst>
          </p:cNvPr>
          <p:cNvSpPr>
            <a:spLocks noGrp="1"/>
          </p:cNvSpPr>
          <p:nvPr>
            <p:ph type="title"/>
          </p:nvPr>
        </p:nvSpPr>
        <p:spPr/>
        <p:txBody>
          <a:bodyPr/>
          <a:lstStyle/>
          <a:p>
            <a:r>
              <a:rPr lang="en-US" dirty="0"/>
              <a:t>Essential Disciplinary Knowledge: </a:t>
            </a:r>
            <a:r>
              <a:rPr lang="en-US" b="0" dirty="0"/>
              <a:t>Brownell, 2014</a:t>
            </a:r>
          </a:p>
        </p:txBody>
      </p:sp>
      <p:pic>
        <p:nvPicPr>
          <p:cNvPr id="4" name="Picture 3">
            <a:extLst>
              <a:ext uri="{FF2B5EF4-FFF2-40B4-BE49-F238E27FC236}">
                <a16:creationId xmlns:a16="http://schemas.microsoft.com/office/drawing/2014/main" id="{EFB988CA-2B8F-38A4-66DD-DAB27AEDDF40}"/>
              </a:ext>
            </a:extLst>
          </p:cNvPr>
          <p:cNvPicPr>
            <a:picLocks noChangeAspect="1"/>
          </p:cNvPicPr>
          <p:nvPr/>
        </p:nvPicPr>
        <p:blipFill>
          <a:blip r:embed="rId2"/>
          <a:stretch>
            <a:fillRect/>
          </a:stretch>
        </p:blipFill>
        <p:spPr>
          <a:xfrm>
            <a:off x="733381" y="1051486"/>
            <a:ext cx="7799418" cy="3880686"/>
          </a:xfrm>
          <a:prstGeom prst="rect">
            <a:avLst/>
          </a:prstGeom>
        </p:spPr>
      </p:pic>
      <p:sp>
        <p:nvSpPr>
          <p:cNvPr id="10" name="TextBox 9">
            <a:extLst>
              <a:ext uri="{FF2B5EF4-FFF2-40B4-BE49-F238E27FC236}">
                <a16:creationId xmlns:a16="http://schemas.microsoft.com/office/drawing/2014/main" id="{5C8EC5B6-7C09-0585-68F1-D143E89E1938}"/>
              </a:ext>
            </a:extLst>
          </p:cNvPr>
          <p:cNvSpPr txBox="1"/>
          <p:nvPr/>
        </p:nvSpPr>
        <p:spPr>
          <a:xfrm>
            <a:off x="2346009" y="4802215"/>
            <a:ext cx="888385" cy="276999"/>
          </a:xfrm>
          <a:prstGeom prst="rect">
            <a:avLst/>
          </a:prstGeom>
          <a:noFill/>
        </p:spPr>
        <p:txBody>
          <a:bodyPr wrap="none" rtlCol="0">
            <a:spAutoFit/>
          </a:bodyPr>
          <a:lstStyle/>
          <a:p>
            <a:r>
              <a:rPr lang="en-US" sz="1200" dirty="0">
                <a:latin typeface="Calibri" panose="020F0502020204030204" pitchFamily="34" charset="0"/>
                <a:cs typeface="Calibri" panose="020F0502020204030204" pitchFamily="34" charset="0"/>
              </a:rPr>
              <a:t>Cells, mols.</a:t>
            </a:r>
          </a:p>
        </p:txBody>
      </p:sp>
      <p:sp>
        <p:nvSpPr>
          <p:cNvPr id="11" name="TextBox 10">
            <a:extLst>
              <a:ext uri="{FF2B5EF4-FFF2-40B4-BE49-F238E27FC236}">
                <a16:creationId xmlns:a16="http://schemas.microsoft.com/office/drawing/2014/main" id="{36A402CE-E0A2-2481-BF2C-FFC7BF2F2206}"/>
              </a:ext>
            </a:extLst>
          </p:cNvPr>
          <p:cNvSpPr txBox="1"/>
          <p:nvPr/>
        </p:nvSpPr>
        <p:spPr>
          <a:xfrm>
            <a:off x="4649492" y="4802215"/>
            <a:ext cx="661271" cy="276999"/>
          </a:xfrm>
          <a:prstGeom prst="rect">
            <a:avLst/>
          </a:prstGeom>
          <a:noFill/>
        </p:spPr>
        <p:txBody>
          <a:bodyPr wrap="none" rtlCol="0">
            <a:spAutoFit/>
          </a:bodyPr>
          <a:lstStyle/>
          <a:p>
            <a:r>
              <a:rPr lang="en-US" sz="1200" dirty="0">
                <a:latin typeface="Calibri" panose="020F0502020204030204" pitchFamily="34" charset="0"/>
                <a:cs typeface="Calibri" panose="020F0502020204030204" pitchFamily="34" charset="0"/>
              </a:rPr>
              <a:t>Physiol.</a:t>
            </a:r>
          </a:p>
        </p:txBody>
      </p:sp>
      <p:sp>
        <p:nvSpPr>
          <p:cNvPr id="12" name="TextBox 11">
            <a:extLst>
              <a:ext uri="{FF2B5EF4-FFF2-40B4-BE49-F238E27FC236}">
                <a16:creationId xmlns:a16="http://schemas.microsoft.com/office/drawing/2014/main" id="{A53B0523-3932-C74B-7F80-5A117BC96358}"/>
              </a:ext>
            </a:extLst>
          </p:cNvPr>
          <p:cNvSpPr txBox="1"/>
          <p:nvPr/>
        </p:nvSpPr>
        <p:spPr>
          <a:xfrm>
            <a:off x="6725861" y="4802215"/>
            <a:ext cx="684418" cy="276999"/>
          </a:xfrm>
          <a:prstGeom prst="rect">
            <a:avLst/>
          </a:prstGeom>
          <a:noFill/>
        </p:spPr>
        <p:txBody>
          <a:bodyPr wrap="none" rtlCol="0">
            <a:spAutoFit/>
          </a:bodyPr>
          <a:lstStyle/>
          <a:p>
            <a:r>
              <a:rPr lang="en-US" sz="1200" dirty="0">
                <a:latin typeface="Calibri" panose="020F0502020204030204" pitchFamily="34" charset="0"/>
                <a:cs typeface="Calibri" panose="020F0502020204030204" pitchFamily="34" charset="0"/>
              </a:rPr>
              <a:t>Eco/Evo</a:t>
            </a:r>
          </a:p>
        </p:txBody>
      </p:sp>
    </p:spTree>
    <p:extLst>
      <p:ext uri="{BB962C8B-B14F-4D97-AF65-F5344CB8AC3E}">
        <p14:creationId xmlns:p14="http://schemas.microsoft.com/office/powerpoint/2010/main" val="18221656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942E29-E8F8-299A-DAD2-79A4C2C1A2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C4DDBA-B92C-F7A2-8CCF-5298568D24B4}"/>
              </a:ext>
            </a:extLst>
          </p:cNvPr>
          <p:cNvSpPr>
            <a:spLocks noGrp="1"/>
          </p:cNvSpPr>
          <p:nvPr>
            <p:ph type="title"/>
          </p:nvPr>
        </p:nvSpPr>
        <p:spPr/>
        <p:txBody>
          <a:bodyPr/>
          <a:lstStyle/>
          <a:p>
            <a:r>
              <a:rPr lang="en-US" dirty="0"/>
              <a:t>Essential Disciplinary Knowledge: </a:t>
            </a:r>
            <a:r>
              <a:rPr lang="en-US" b="0" dirty="0"/>
              <a:t>Brownell, 2014</a:t>
            </a:r>
          </a:p>
        </p:txBody>
      </p:sp>
      <p:pic>
        <p:nvPicPr>
          <p:cNvPr id="4" name="Picture 3">
            <a:extLst>
              <a:ext uri="{FF2B5EF4-FFF2-40B4-BE49-F238E27FC236}">
                <a16:creationId xmlns:a16="http://schemas.microsoft.com/office/drawing/2014/main" id="{B4CBF739-F9A2-5C34-DE57-FCD8779F7D1B}"/>
              </a:ext>
            </a:extLst>
          </p:cNvPr>
          <p:cNvPicPr>
            <a:picLocks noChangeAspect="1"/>
          </p:cNvPicPr>
          <p:nvPr/>
        </p:nvPicPr>
        <p:blipFill rotWithShape="1">
          <a:blip r:embed="rId2"/>
          <a:srcRect b="19917"/>
          <a:stretch/>
        </p:blipFill>
        <p:spPr>
          <a:xfrm>
            <a:off x="685174" y="1060825"/>
            <a:ext cx="7928635" cy="3741390"/>
          </a:xfrm>
          <a:prstGeom prst="rect">
            <a:avLst/>
          </a:prstGeom>
        </p:spPr>
      </p:pic>
      <p:sp>
        <p:nvSpPr>
          <p:cNvPr id="10" name="TextBox 9">
            <a:extLst>
              <a:ext uri="{FF2B5EF4-FFF2-40B4-BE49-F238E27FC236}">
                <a16:creationId xmlns:a16="http://schemas.microsoft.com/office/drawing/2014/main" id="{4BED1094-C2E0-92EF-8FA1-E611B45D19EA}"/>
              </a:ext>
            </a:extLst>
          </p:cNvPr>
          <p:cNvSpPr txBox="1"/>
          <p:nvPr/>
        </p:nvSpPr>
        <p:spPr>
          <a:xfrm>
            <a:off x="2346009" y="4802215"/>
            <a:ext cx="888385" cy="276999"/>
          </a:xfrm>
          <a:prstGeom prst="rect">
            <a:avLst/>
          </a:prstGeom>
          <a:noFill/>
        </p:spPr>
        <p:txBody>
          <a:bodyPr wrap="none" rtlCol="0">
            <a:spAutoFit/>
          </a:bodyPr>
          <a:lstStyle/>
          <a:p>
            <a:r>
              <a:rPr lang="en-US" sz="1200" dirty="0">
                <a:latin typeface="Calibri" panose="020F0502020204030204" pitchFamily="34" charset="0"/>
                <a:cs typeface="Calibri" panose="020F0502020204030204" pitchFamily="34" charset="0"/>
              </a:rPr>
              <a:t>Cells, mols.</a:t>
            </a:r>
          </a:p>
        </p:txBody>
      </p:sp>
      <p:sp>
        <p:nvSpPr>
          <p:cNvPr id="11" name="TextBox 10">
            <a:extLst>
              <a:ext uri="{FF2B5EF4-FFF2-40B4-BE49-F238E27FC236}">
                <a16:creationId xmlns:a16="http://schemas.microsoft.com/office/drawing/2014/main" id="{7D143B84-93E2-7674-4E1E-CBBE1BF12D1F}"/>
              </a:ext>
            </a:extLst>
          </p:cNvPr>
          <p:cNvSpPr txBox="1"/>
          <p:nvPr/>
        </p:nvSpPr>
        <p:spPr>
          <a:xfrm>
            <a:off x="4649492" y="4802215"/>
            <a:ext cx="661271" cy="276999"/>
          </a:xfrm>
          <a:prstGeom prst="rect">
            <a:avLst/>
          </a:prstGeom>
          <a:noFill/>
        </p:spPr>
        <p:txBody>
          <a:bodyPr wrap="none" rtlCol="0">
            <a:spAutoFit/>
          </a:bodyPr>
          <a:lstStyle/>
          <a:p>
            <a:r>
              <a:rPr lang="en-US" sz="1200" dirty="0">
                <a:latin typeface="Calibri" panose="020F0502020204030204" pitchFamily="34" charset="0"/>
                <a:cs typeface="Calibri" panose="020F0502020204030204" pitchFamily="34" charset="0"/>
              </a:rPr>
              <a:t>Physiol.</a:t>
            </a:r>
          </a:p>
        </p:txBody>
      </p:sp>
      <p:sp>
        <p:nvSpPr>
          <p:cNvPr id="12" name="TextBox 11">
            <a:extLst>
              <a:ext uri="{FF2B5EF4-FFF2-40B4-BE49-F238E27FC236}">
                <a16:creationId xmlns:a16="http://schemas.microsoft.com/office/drawing/2014/main" id="{820FF434-DB1B-14C2-3875-95561C83ECE1}"/>
              </a:ext>
            </a:extLst>
          </p:cNvPr>
          <p:cNvSpPr txBox="1"/>
          <p:nvPr/>
        </p:nvSpPr>
        <p:spPr>
          <a:xfrm>
            <a:off x="6725861" y="4802215"/>
            <a:ext cx="684418" cy="276999"/>
          </a:xfrm>
          <a:prstGeom prst="rect">
            <a:avLst/>
          </a:prstGeom>
          <a:noFill/>
        </p:spPr>
        <p:txBody>
          <a:bodyPr wrap="none" rtlCol="0">
            <a:spAutoFit/>
          </a:bodyPr>
          <a:lstStyle/>
          <a:p>
            <a:r>
              <a:rPr lang="en-US" sz="1200" dirty="0">
                <a:latin typeface="Calibri" panose="020F0502020204030204" pitchFamily="34" charset="0"/>
                <a:cs typeface="Calibri" panose="020F0502020204030204" pitchFamily="34" charset="0"/>
              </a:rPr>
              <a:t>Eco/Evo</a:t>
            </a:r>
          </a:p>
        </p:txBody>
      </p:sp>
    </p:spTree>
    <p:extLst>
      <p:ext uri="{BB962C8B-B14F-4D97-AF65-F5344CB8AC3E}">
        <p14:creationId xmlns:p14="http://schemas.microsoft.com/office/powerpoint/2010/main" val="41854928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8E60DF-9E55-37B1-1181-1EC6483F50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96C140-0840-8180-62E4-E9A833753AAC}"/>
              </a:ext>
            </a:extLst>
          </p:cNvPr>
          <p:cNvSpPr>
            <a:spLocks noGrp="1"/>
          </p:cNvSpPr>
          <p:nvPr>
            <p:ph type="title"/>
          </p:nvPr>
        </p:nvSpPr>
        <p:spPr/>
        <p:txBody>
          <a:bodyPr/>
          <a:lstStyle/>
          <a:p>
            <a:r>
              <a:rPr lang="en-US" dirty="0"/>
              <a:t>Essential Disciplinary Knowledge: </a:t>
            </a:r>
            <a:r>
              <a:rPr lang="en-US" b="0" dirty="0"/>
              <a:t>Brownell, 2014</a:t>
            </a:r>
          </a:p>
        </p:txBody>
      </p:sp>
      <p:pic>
        <p:nvPicPr>
          <p:cNvPr id="4" name="Picture 3">
            <a:extLst>
              <a:ext uri="{FF2B5EF4-FFF2-40B4-BE49-F238E27FC236}">
                <a16:creationId xmlns:a16="http://schemas.microsoft.com/office/drawing/2014/main" id="{E19679F6-CA4E-CBD2-CD11-B36C6E457DF4}"/>
              </a:ext>
            </a:extLst>
          </p:cNvPr>
          <p:cNvPicPr>
            <a:picLocks noChangeAspect="1"/>
          </p:cNvPicPr>
          <p:nvPr/>
        </p:nvPicPr>
        <p:blipFill>
          <a:blip r:embed="rId2"/>
          <a:stretch>
            <a:fillRect/>
          </a:stretch>
        </p:blipFill>
        <p:spPr>
          <a:xfrm>
            <a:off x="1757352" y="1060031"/>
            <a:ext cx="5718472" cy="3836535"/>
          </a:xfrm>
          <a:prstGeom prst="rect">
            <a:avLst/>
          </a:prstGeom>
        </p:spPr>
      </p:pic>
      <p:sp>
        <p:nvSpPr>
          <p:cNvPr id="10" name="TextBox 9">
            <a:extLst>
              <a:ext uri="{FF2B5EF4-FFF2-40B4-BE49-F238E27FC236}">
                <a16:creationId xmlns:a16="http://schemas.microsoft.com/office/drawing/2014/main" id="{13F3BBA0-FA79-3FF4-B423-585791519406}"/>
              </a:ext>
            </a:extLst>
          </p:cNvPr>
          <p:cNvSpPr txBox="1"/>
          <p:nvPr/>
        </p:nvSpPr>
        <p:spPr>
          <a:xfrm>
            <a:off x="2610929" y="4802215"/>
            <a:ext cx="888385" cy="276999"/>
          </a:xfrm>
          <a:prstGeom prst="rect">
            <a:avLst/>
          </a:prstGeom>
          <a:noFill/>
        </p:spPr>
        <p:txBody>
          <a:bodyPr wrap="none" rtlCol="0">
            <a:spAutoFit/>
          </a:bodyPr>
          <a:lstStyle/>
          <a:p>
            <a:r>
              <a:rPr lang="en-US" sz="1200" dirty="0">
                <a:latin typeface="Calibri" panose="020F0502020204030204" pitchFamily="34" charset="0"/>
                <a:cs typeface="Calibri" panose="020F0502020204030204" pitchFamily="34" charset="0"/>
              </a:rPr>
              <a:t>Cells, mols.</a:t>
            </a:r>
          </a:p>
        </p:txBody>
      </p:sp>
      <p:sp>
        <p:nvSpPr>
          <p:cNvPr id="11" name="TextBox 10">
            <a:extLst>
              <a:ext uri="{FF2B5EF4-FFF2-40B4-BE49-F238E27FC236}">
                <a16:creationId xmlns:a16="http://schemas.microsoft.com/office/drawing/2014/main" id="{11F94531-1DF7-176A-AB89-1E15A2C49618}"/>
              </a:ext>
            </a:extLst>
          </p:cNvPr>
          <p:cNvSpPr txBox="1"/>
          <p:nvPr/>
        </p:nvSpPr>
        <p:spPr>
          <a:xfrm>
            <a:off x="4649492" y="4802215"/>
            <a:ext cx="661271" cy="276999"/>
          </a:xfrm>
          <a:prstGeom prst="rect">
            <a:avLst/>
          </a:prstGeom>
          <a:noFill/>
        </p:spPr>
        <p:txBody>
          <a:bodyPr wrap="none" rtlCol="0">
            <a:spAutoFit/>
          </a:bodyPr>
          <a:lstStyle/>
          <a:p>
            <a:r>
              <a:rPr lang="en-US" sz="1200" dirty="0">
                <a:latin typeface="Calibri" panose="020F0502020204030204" pitchFamily="34" charset="0"/>
                <a:cs typeface="Calibri" panose="020F0502020204030204" pitchFamily="34" charset="0"/>
              </a:rPr>
              <a:t>Physiol.</a:t>
            </a:r>
          </a:p>
        </p:txBody>
      </p:sp>
      <p:sp>
        <p:nvSpPr>
          <p:cNvPr id="12" name="TextBox 11">
            <a:extLst>
              <a:ext uri="{FF2B5EF4-FFF2-40B4-BE49-F238E27FC236}">
                <a16:creationId xmlns:a16="http://schemas.microsoft.com/office/drawing/2014/main" id="{885A2D56-035B-4169-CC7E-9596190B227C}"/>
              </a:ext>
            </a:extLst>
          </p:cNvPr>
          <p:cNvSpPr txBox="1"/>
          <p:nvPr/>
        </p:nvSpPr>
        <p:spPr>
          <a:xfrm>
            <a:off x="6332754" y="4802215"/>
            <a:ext cx="684418" cy="276999"/>
          </a:xfrm>
          <a:prstGeom prst="rect">
            <a:avLst/>
          </a:prstGeom>
          <a:noFill/>
        </p:spPr>
        <p:txBody>
          <a:bodyPr wrap="none" rtlCol="0">
            <a:spAutoFit/>
          </a:bodyPr>
          <a:lstStyle/>
          <a:p>
            <a:r>
              <a:rPr lang="en-US" sz="1200" dirty="0">
                <a:latin typeface="Calibri" panose="020F0502020204030204" pitchFamily="34" charset="0"/>
                <a:cs typeface="Calibri" panose="020F0502020204030204" pitchFamily="34" charset="0"/>
              </a:rPr>
              <a:t>Eco/Evo</a:t>
            </a:r>
          </a:p>
        </p:txBody>
      </p:sp>
    </p:spTree>
    <p:extLst>
      <p:ext uri="{BB962C8B-B14F-4D97-AF65-F5344CB8AC3E}">
        <p14:creationId xmlns:p14="http://schemas.microsoft.com/office/powerpoint/2010/main" val="10745509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86AB9-1901-2111-CF73-F39AE15095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C423B9-A027-BFED-C9D8-7D1B23C6E092}"/>
              </a:ext>
            </a:extLst>
          </p:cNvPr>
          <p:cNvSpPr>
            <a:spLocks noGrp="1"/>
          </p:cNvSpPr>
          <p:nvPr>
            <p:ph type="title"/>
          </p:nvPr>
        </p:nvSpPr>
        <p:spPr/>
        <p:txBody>
          <a:bodyPr/>
          <a:lstStyle/>
          <a:p>
            <a:r>
              <a:rPr lang="en-US" dirty="0"/>
              <a:t>Essential Disciplinary Knowledge: </a:t>
            </a:r>
            <a:r>
              <a:rPr lang="en-US" b="0" dirty="0"/>
              <a:t>Brownell, 2014</a:t>
            </a:r>
          </a:p>
        </p:txBody>
      </p:sp>
      <p:pic>
        <p:nvPicPr>
          <p:cNvPr id="4" name="Picture 3">
            <a:extLst>
              <a:ext uri="{FF2B5EF4-FFF2-40B4-BE49-F238E27FC236}">
                <a16:creationId xmlns:a16="http://schemas.microsoft.com/office/drawing/2014/main" id="{91CE8079-3FD3-E433-A031-7BE934E35916}"/>
              </a:ext>
            </a:extLst>
          </p:cNvPr>
          <p:cNvPicPr>
            <a:picLocks noChangeAspect="1"/>
          </p:cNvPicPr>
          <p:nvPr/>
        </p:nvPicPr>
        <p:blipFill rotWithShape="1">
          <a:blip r:embed="rId2"/>
          <a:srcRect b="17553"/>
          <a:stretch/>
        </p:blipFill>
        <p:spPr>
          <a:xfrm>
            <a:off x="1242222" y="1060032"/>
            <a:ext cx="6936103" cy="3829160"/>
          </a:xfrm>
          <a:prstGeom prst="rect">
            <a:avLst/>
          </a:prstGeom>
        </p:spPr>
      </p:pic>
      <p:sp>
        <p:nvSpPr>
          <p:cNvPr id="5" name="TextBox 4">
            <a:extLst>
              <a:ext uri="{FF2B5EF4-FFF2-40B4-BE49-F238E27FC236}">
                <a16:creationId xmlns:a16="http://schemas.microsoft.com/office/drawing/2014/main" id="{880EAB0C-1761-BE43-2657-AB6B333F1EAD}"/>
              </a:ext>
            </a:extLst>
          </p:cNvPr>
          <p:cNvSpPr txBox="1"/>
          <p:nvPr/>
        </p:nvSpPr>
        <p:spPr>
          <a:xfrm>
            <a:off x="2346009" y="4802215"/>
            <a:ext cx="888385" cy="276999"/>
          </a:xfrm>
          <a:prstGeom prst="rect">
            <a:avLst/>
          </a:prstGeom>
          <a:noFill/>
        </p:spPr>
        <p:txBody>
          <a:bodyPr wrap="none" rtlCol="0">
            <a:spAutoFit/>
          </a:bodyPr>
          <a:lstStyle/>
          <a:p>
            <a:r>
              <a:rPr lang="en-US" sz="1200" dirty="0">
                <a:latin typeface="Calibri" panose="020F0502020204030204" pitchFamily="34" charset="0"/>
                <a:cs typeface="Calibri" panose="020F0502020204030204" pitchFamily="34" charset="0"/>
              </a:rPr>
              <a:t>Cells, mols.</a:t>
            </a:r>
          </a:p>
        </p:txBody>
      </p:sp>
      <p:sp>
        <p:nvSpPr>
          <p:cNvPr id="6" name="TextBox 5">
            <a:extLst>
              <a:ext uri="{FF2B5EF4-FFF2-40B4-BE49-F238E27FC236}">
                <a16:creationId xmlns:a16="http://schemas.microsoft.com/office/drawing/2014/main" id="{208E3318-B1EF-D690-C24F-DFB8296C6A38}"/>
              </a:ext>
            </a:extLst>
          </p:cNvPr>
          <p:cNvSpPr txBox="1"/>
          <p:nvPr/>
        </p:nvSpPr>
        <p:spPr>
          <a:xfrm>
            <a:off x="4649492" y="4802215"/>
            <a:ext cx="661271" cy="276999"/>
          </a:xfrm>
          <a:prstGeom prst="rect">
            <a:avLst/>
          </a:prstGeom>
          <a:noFill/>
        </p:spPr>
        <p:txBody>
          <a:bodyPr wrap="none" rtlCol="0">
            <a:spAutoFit/>
          </a:bodyPr>
          <a:lstStyle/>
          <a:p>
            <a:r>
              <a:rPr lang="en-US" sz="1200" dirty="0">
                <a:latin typeface="Calibri" panose="020F0502020204030204" pitchFamily="34" charset="0"/>
                <a:cs typeface="Calibri" panose="020F0502020204030204" pitchFamily="34" charset="0"/>
              </a:rPr>
              <a:t>Physiol.</a:t>
            </a:r>
          </a:p>
        </p:txBody>
      </p:sp>
      <p:sp>
        <p:nvSpPr>
          <p:cNvPr id="7" name="TextBox 6">
            <a:extLst>
              <a:ext uri="{FF2B5EF4-FFF2-40B4-BE49-F238E27FC236}">
                <a16:creationId xmlns:a16="http://schemas.microsoft.com/office/drawing/2014/main" id="{068B6F6D-D4F8-1314-710D-90D40593B9AD}"/>
              </a:ext>
            </a:extLst>
          </p:cNvPr>
          <p:cNvSpPr txBox="1"/>
          <p:nvPr/>
        </p:nvSpPr>
        <p:spPr>
          <a:xfrm>
            <a:off x="6725861" y="4802215"/>
            <a:ext cx="684418" cy="276999"/>
          </a:xfrm>
          <a:prstGeom prst="rect">
            <a:avLst/>
          </a:prstGeom>
          <a:noFill/>
        </p:spPr>
        <p:txBody>
          <a:bodyPr wrap="none" rtlCol="0">
            <a:spAutoFit/>
          </a:bodyPr>
          <a:lstStyle/>
          <a:p>
            <a:r>
              <a:rPr lang="en-US" sz="1200" dirty="0">
                <a:latin typeface="Calibri" panose="020F0502020204030204" pitchFamily="34" charset="0"/>
                <a:cs typeface="Calibri" panose="020F0502020204030204" pitchFamily="34" charset="0"/>
              </a:rPr>
              <a:t>Eco/Evo</a:t>
            </a:r>
          </a:p>
        </p:txBody>
      </p:sp>
    </p:spTree>
    <p:extLst>
      <p:ext uri="{BB962C8B-B14F-4D97-AF65-F5344CB8AC3E}">
        <p14:creationId xmlns:p14="http://schemas.microsoft.com/office/powerpoint/2010/main" val="12033077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1B5455-4549-F333-7BE5-6628184C7EB1}"/>
            </a:ext>
          </a:extLst>
        </p:cNvPr>
        <p:cNvGrpSpPr/>
        <p:nvPr/>
      </p:nvGrpSpPr>
      <p:grpSpPr>
        <a:xfrm>
          <a:off x="0" y="0"/>
          <a:ext cx="0" cy="0"/>
          <a:chOff x="0" y="0"/>
          <a:chExt cx="0" cy="0"/>
        </a:xfrm>
      </p:grpSpPr>
      <p:pic>
        <p:nvPicPr>
          <p:cNvPr id="4" name="Picture 3" descr="Screen Shot 2016-01-28 at 12.28.47 PM.png">
            <a:extLst>
              <a:ext uri="{FF2B5EF4-FFF2-40B4-BE49-F238E27FC236}">
                <a16:creationId xmlns:a16="http://schemas.microsoft.com/office/drawing/2014/main" id="{5452B45A-D78D-B9F8-A5C4-60F5F71CF62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8166" y="64744"/>
            <a:ext cx="7539446" cy="5001862"/>
          </a:xfrm>
          <a:prstGeom prst="rect">
            <a:avLst/>
          </a:prstGeom>
        </p:spPr>
      </p:pic>
      <p:sp>
        <p:nvSpPr>
          <p:cNvPr id="2" name="Title 1">
            <a:extLst>
              <a:ext uri="{FF2B5EF4-FFF2-40B4-BE49-F238E27FC236}">
                <a16:creationId xmlns:a16="http://schemas.microsoft.com/office/drawing/2014/main" id="{6259486A-A87E-B383-6875-CBEF035AACE2}"/>
              </a:ext>
            </a:extLst>
          </p:cNvPr>
          <p:cNvSpPr>
            <a:spLocks noGrp="1"/>
          </p:cNvSpPr>
          <p:nvPr>
            <p:ph type="title" idx="4294967295"/>
          </p:nvPr>
        </p:nvSpPr>
        <p:spPr>
          <a:xfrm>
            <a:off x="328653" y="251070"/>
            <a:ext cx="3910149" cy="1107467"/>
          </a:xfrm>
        </p:spPr>
        <p:txBody>
          <a:bodyPr>
            <a:normAutofit fontScale="90000"/>
          </a:bodyPr>
          <a:lstStyle/>
          <a:p>
            <a:r>
              <a:rPr lang="en-US" b="0" dirty="0"/>
              <a:t>“Classic” Bloom’s Taxonomy of General Cognitive Domain</a:t>
            </a:r>
          </a:p>
        </p:txBody>
      </p:sp>
      <p:sp>
        <p:nvSpPr>
          <p:cNvPr id="3" name="Right Bracket 2">
            <a:extLst>
              <a:ext uri="{FF2B5EF4-FFF2-40B4-BE49-F238E27FC236}">
                <a16:creationId xmlns:a16="http://schemas.microsoft.com/office/drawing/2014/main" id="{62FA86D2-D909-54EF-8DE8-C652289AA056}"/>
              </a:ext>
            </a:extLst>
          </p:cNvPr>
          <p:cNvSpPr/>
          <p:nvPr/>
        </p:nvSpPr>
        <p:spPr>
          <a:xfrm>
            <a:off x="7482652" y="294615"/>
            <a:ext cx="359676" cy="3230297"/>
          </a:xfrm>
          <a:prstGeom prst="rightBracket">
            <a:avLst>
              <a:gd name="adj" fmla="val 56757"/>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350"/>
          </a:p>
        </p:txBody>
      </p:sp>
      <p:sp>
        <p:nvSpPr>
          <p:cNvPr id="5" name="TextBox 4">
            <a:extLst>
              <a:ext uri="{FF2B5EF4-FFF2-40B4-BE49-F238E27FC236}">
                <a16:creationId xmlns:a16="http://schemas.microsoft.com/office/drawing/2014/main" id="{1D5FF82B-327D-7814-4479-7AFF05096399}"/>
              </a:ext>
            </a:extLst>
          </p:cNvPr>
          <p:cNvSpPr txBox="1"/>
          <p:nvPr/>
        </p:nvSpPr>
        <p:spPr>
          <a:xfrm>
            <a:off x="7589795" y="1168165"/>
            <a:ext cx="732958" cy="507831"/>
          </a:xfrm>
          <a:prstGeom prst="rect">
            <a:avLst/>
          </a:prstGeom>
          <a:solidFill>
            <a:srgbClr val="F2DCDB"/>
          </a:solidFill>
        </p:spPr>
        <p:txBody>
          <a:bodyPr wrap="none" rtlCol="0">
            <a:spAutoFit/>
          </a:bodyPr>
          <a:lstStyle/>
          <a:p>
            <a:r>
              <a:rPr lang="en-US" sz="1350" dirty="0"/>
              <a:t>Higher </a:t>
            </a:r>
          </a:p>
          <a:p>
            <a:r>
              <a:rPr lang="en-US" sz="1350" dirty="0"/>
              <a:t>transfer</a:t>
            </a:r>
          </a:p>
        </p:txBody>
      </p:sp>
    </p:spTree>
    <p:extLst>
      <p:ext uri="{BB962C8B-B14F-4D97-AF65-F5344CB8AC3E}">
        <p14:creationId xmlns:p14="http://schemas.microsoft.com/office/powerpoint/2010/main" val="4050319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57648E-F9E7-0733-33A4-8CA86520C6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2E0650-DCAC-86D8-3CE4-9C7725E7F776}"/>
              </a:ext>
            </a:extLst>
          </p:cNvPr>
          <p:cNvSpPr>
            <a:spLocks noGrp="1"/>
          </p:cNvSpPr>
          <p:nvPr>
            <p:ph type="title"/>
          </p:nvPr>
        </p:nvSpPr>
        <p:spPr/>
        <p:txBody>
          <a:bodyPr/>
          <a:lstStyle/>
          <a:p>
            <a:r>
              <a:rPr lang="en-US" dirty="0"/>
              <a:t>Knowledge Domains: </a:t>
            </a:r>
            <a:r>
              <a:rPr lang="en-US" b="0" dirty="0"/>
              <a:t>The REAL Bloom’s Taxonomy</a:t>
            </a:r>
          </a:p>
        </p:txBody>
      </p:sp>
      <p:sp>
        <p:nvSpPr>
          <p:cNvPr id="3" name="Content Placeholder 2">
            <a:extLst>
              <a:ext uri="{FF2B5EF4-FFF2-40B4-BE49-F238E27FC236}">
                <a16:creationId xmlns:a16="http://schemas.microsoft.com/office/drawing/2014/main" id="{96065824-877A-57C2-9490-EA34CD7AF59F}"/>
              </a:ext>
            </a:extLst>
          </p:cNvPr>
          <p:cNvSpPr>
            <a:spLocks noGrp="1"/>
          </p:cNvSpPr>
          <p:nvPr>
            <p:ph idx="1"/>
          </p:nvPr>
        </p:nvSpPr>
        <p:spPr>
          <a:xfrm>
            <a:off x="457200" y="1384663"/>
            <a:ext cx="8229600" cy="3209960"/>
          </a:xfrm>
        </p:spPr>
        <p:txBody>
          <a:bodyPr>
            <a:normAutofit/>
          </a:bodyPr>
          <a:lstStyle/>
          <a:p>
            <a:r>
              <a:rPr lang="en-US" dirty="0"/>
              <a:t>Original 1956 taxonomy has been diluted, ignored:</a:t>
            </a:r>
          </a:p>
          <a:p>
            <a:pPr lvl="1"/>
            <a:r>
              <a:rPr lang="en-US" sz="2400" dirty="0"/>
              <a:t>Was </a:t>
            </a:r>
            <a:r>
              <a:rPr lang="en-US" sz="2400" b="1" u="sng" dirty="0"/>
              <a:t>NOT</a:t>
            </a:r>
            <a:r>
              <a:rPr lang="en-US" sz="2400" dirty="0"/>
              <a:t> a pyramid</a:t>
            </a:r>
          </a:p>
          <a:p>
            <a:pPr lvl="1"/>
            <a:r>
              <a:rPr lang="en-US" sz="2400" dirty="0"/>
              <a:t>Covered </a:t>
            </a:r>
            <a:r>
              <a:rPr lang="en-US" sz="2400" b="1" u="sng" dirty="0"/>
              <a:t>3</a:t>
            </a:r>
            <a:r>
              <a:rPr lang="en-US" sz="2400" dirty="0"/>
              <a:t> domains (cognitive, psychomotor, affective)</a:t>
            </a:r>
          </a:p>
          <a:p>
            <a:pPr lvl="1"/>
            <a:r>
              <a:rPr lang="en-US" sz="2400" dirty="0"/>
              <a:t>Recognized </a:t>
            </a:r>
            <a:r>
              <a:rPr lang="en-US" sz="2400" b="1" u="sng" dirty="0"/>
              <a:t>SUB</a:t>
            </a:r>
            <a:r>
              <a:rPr lang="en-US" sz="2400" dirty="0"/>
              <a:t>-domains</a:t>
            </a:r>
          </a:p>
          <a:p>
            <a:r>
              <a:rPr lang="en-US" dirty="0"/>
              <a:t>Has been updated, extended, revised several times</a:t>
            </a:r>
          </a:p>
          <a:p>
            <a:pPr lvl="1"/>
            <a:r>
              <a:rPr lang="en-US" sz="2400" dirty="0"/>
              <a:t> Most recent by an original author was 2001</a:t>
            </a:r>
          </a:p>
        </p:txBody>
      </p:sp>
    </p:spTree>
    <p:extLst>
      <p:ext uri="{BB962C8B-B14F-4D97-AF65-F5344CB8AC3E}">
        <p14:creationId xmlns:p14="http://schemas.microsoft.com/office/powerpoint/2010/main" val="25682736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B4C56E-1EFE-04FB-6742-9F4448CF21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887B0C-9C5B-D31A-2724-9C1F575EC3B8}"/>
              </a:ext>
            </a:extLst>
          </p:cNvPr>
          <p:cNvSpPr>
            <a:spLocks noGrp="1"/>
          </p:cNvSpPr>
          <p:nvPr>
            <p:ph type="title"/>
          </p:nvPr>
        </p:nvSpPr>
        <p:spPr>
          <a:xfrm>
            <a:off x="457200" y="202782"/>
            <a:ext cx="8199718" cy="600545"/>
          </a:xfrm>
        </p:spPr>
        <p:txBody>
          <a:bodyPr/>
          <a:lstStyle/>
          <a:p>
            <a:r>
              <a:rPr lang="en-US" dirty="0"/>
              <a:t>Knowledge Domains: </a:t>
            </a:r>
            <a:r>
              <a:rPr lang="en-US" b="0" dirty="0"/>
              <a:t>Bloom, Krathwohl, &amp; Anderson</a:t>
            </a:r>
          </a:p>
        </p:txBody>
      </p:sp>
      <p:pic>
        <p:nvPicPr>
          <p:cNvPr id="5" name="Picture 4" descr="A list of words on a table&#10;&#10;Description automatically generated">
            <a:extLst>
              <a:ext uri="{FF2B5EF4-FFF2-40B4-BE49-F238E27FC236}">
                <a16:creationId xmlns:a16="http://schemas.microsoft.com/office/drawing/2014/main" id="{7F3CDD93-9E49-450F-B3C2-81051F3B58F8}"/>
              </a:ext>
            </a:extLst>
          </p:cNvPr>
          <p:cNvPicPr>
            <a:picLocks noChangeAspect="1"/>
          </p:cNvPicPr>
          <p:nvPr/>
        </p:nvPicPr>
        <p:blipFill>
          <a:blip r:embed="rId2"/>
          <a:stretch>
            <a:fillRect/>
          </a:stretch>
        </p:blipFill>
        <p:spPr>
          <a:xfrm>
            <a:off x="2849974" y="803327"/>
            <a:ext cx="5963100" cy="4340173"/>
          </a:xfrm>
          <a:prstGeom prst="rect">
            <a:avLst/>
          </a:prstGeom>
        </p:spPr>
      </p:pic>
      <p:sp>
        <p:nvSpPr>
          <p:cNvPr id="9" name="Content Placeholder 2">
            <a:extLst>
              <a:ext uri="{FF2B5EF4-FFF2-40B4-BE49-F238E27FC236}">
                <a16:creationId xmlns:a16="http://schemas.microsoft.com/office/drawing/2014/main" id="{3EE3639E-0068-BDE6-9020-EE0810D47008}"/>
              </a:ext>
            </a:extLst>
          </p:cNvPr>
          <p:cNvSpPr>
            <a:spLocks noGrp="1"/>
          </p:cNvSpPr>
          <p:nvPr>
            <p:ph idx="1"/>
          </p:nvPr>
        </p:nvSpPr>
        <p:spPr>
          <a:xfrm>
            <a:off x="239374" y="1403872"/>
            <a:ext cx="2721540" cy="3385842"/>
          </a:xfrm>
        </p:spPr>
        <p:txBody>
          <a:bodyPr>
            <a:normAutofit lnSpcReduction="10000"/>
          </a:bodyPr>
          <a:lstStyle/>
          <a:p>
            <a:pPr marL="0" indent="0">
              <a:buNone/>
            </a:pPr>
            <a:r>
              <a:rPr lang="en-US" sz="2400" u="sng" dirty="0"/>
              <a:t>Co</a:t>
            </a:r>
            <a:r>
              <a:rPr lang="en-US" sz="2400" dirty="0"/>
              <a:t>g</a:t>
            </a:r>
            <a:r>
              <a:rPr lang="en-US" sz="2400" u="sng" dirty="0"/>
              <a:t>nitive domain</a:t>
            </a:r>
          </a:p>
          <a:p>
            <a:r>
              <a:rPr lang="en-US" sz="2400" dirty="0"/>
              <a:t>Basis for the short-hand pyramid</a:t>
            </a:r>
          </a:p>
          <a:p>
            <a:r>
              <a:rPr lang="en-US" sz="2400" dirty="0"/>
              <a:t>Includes:</a:t>
            </a:r>
          </a:p>
          <a:p>
            <a:pPr lvl="1"/>
            <a:r>
              <a:rPr lang="en-US" sz="2000" dirty="0"/>
              <a:t>Factual</a:t>
            </a:r>
          </a:p>
          <a:p>
            <a:pPr lvl="1"/>
            <a:r>
              <a:rPr lang="en-US" sz="2000" dirty="0"/>
              <a:t>Conceptual</a:t>
            </a:r>
          </a:p>
          <a:p>
            <a:pPr lvl="1"/>
            <a:r>
              <a:rPr lang="en-US" sz="2000" dirty="0"/>
              <a:t>Procedural</a:t>
            </a:r>
          </a:p>
          <a:p>
            <a:pPr lvl="1"/>
            <a:r>
              <a:rPr lang="en-US" sz="2000" dirty="0"/>
              <a:t>Metacognitive</a:t>
            </a:r>
          </a:p>
        </p:txBody>
      </p:sp>
    </p:spTree>
    <p:extLst>
      <p:ext uri="{BB962C8B-B14F-4D97-AF65-F5344CB8AC3E}">
        <p14:creationId xmlns:p14="http://schemas.microsoft.com/office/powerpoint/2010/main" val="33544978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0A13D5-033D-F805-936B-177FB5BF72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E1788C-E985-0DEC-894B-38A62D99A3AF}"/>
              </a:ext>
            </a:extLst>
          </p:cNvPr>
          <p:cNvSpPr>
            <a:spLocks noGrp="1"/>
          </p:cNvSpPr>
          <p:nvPr>
            <p:ph type="title"/>
          </p:nvPr>
        </p:nvSpPr>
        <p:spPr/>
        <p:txBody>
          <a:bodyPr/>
          <a:lstStyle/>
          <a:p>
            <a:r>
              <a:rPr lang="en-US" dirty="0"/>
              <a:t>Knowledge Domains: </a:t>
            </a:r>
            <a:r>
              <a:rPr lang="en-US" b="0" dirty="0"/>
              <a:t>Bloom, Krathwohl, &amp; Anderson</a:t>
            </a:r>
          </a:p>
        </p:txBody>
      </p:sp>
      <p:pic>
        <p:nvPicPr>
          <p:cNvPr id="5" name="Picture 4" descr="A table of action terms&#10;&#10;Description automatically generated">
            <a:extLst>
              <a:ext uri="{FF2B5EF4-FFF2-40B4-BE49-F238E27FC236}">
                <a16:creationId xmlns:a16="http://schemas.microsoft.com/office/drawing/2014/main" id="{79CFBABF-63F8-A76B-6F21-8FE8657EE2F1}"/>
              </a:ext>
            </a:extLst>
          </p:cNvPr>
          <p:cNvPicPr>
            <a:picLocks noChangeAspect="1"/>
          </p:cNvPicPr>
          <p:nvPr/>
        </p:nvPicPr>
        <p:blipFill>
          <a:blip r:embed="rId2"/>
          <a:stretch>
            <a:fillRect/>
          </a:stretch>
        </p:blipFill>
        <p:spPr>
          <a:xfrm>
            <a:off x="1565365" y="1064188"/>
            <a:ext cx="7430589" cy="4079312"/>
          </a:xfrm>
          <a:prstGeom prst="rect">
            <a:avLst/>
          </a:prstGeom>
        </p:spPr>
      </p:pic>
      <p:sp>
        <p:nvSpPr>
          <p:cNvPr id="8" name="TextBox 7">
            <a:extLst>
              <a:ext uri="{FF2B5EF4-FFF2-40B4-BE49-F238E27FC236}">
                <a16:creationId xmlns:a16="http://schemas.microsoft.com/office/drawing/2014/main" id="{69A8A16B-5487-2C12-2FFE-33876B6D6BE4}"/>
              </a:ext>
            </a:extLst>
          </p:cNvPr>
          <p:cNvSpPr txBox="1"/>
          <p:nvPr/>
        </p:nvSpPr>
        <p:spPr>
          <a:xfrm>
            <a:off x="304800" y="1750422"/>
            <a:ext cx="898516" cy="646331"/>
          </a:xfrm>
          <a:prstGeom prst="rect">
            <a:avLst/>
          </a:prstGeom>
          <a:noFill/>
        </p:spPr>
        <p:txBody>
          <a:bodyPr wrap="none" rtlCol="0">
            <a:spAutoFit/>
          </a:bodyPr>
          <a:lstStyle/>
          <a:p>
            <a:r>
              <a:rPr lang="en-US" dirty="0">
                <a:latin typeface="Calibri" panose="020F0502020204030204" pitchFamily="34" charset="0"/>
                <a:cs typeface="Calibri" panose="020F0502020204030204" pitchFamily="34" charset="0"/>
              </a:rPr>
              <a:t>Psycho-</a:t>
            </a:r>
          </a:p>
          <a:p>
            <a:r>
              <a:rPr lang="en-US" dirty="0">
                <a:latin typeface="Calibri" panose="020F0502020204030204" pitchFamily="34" charset="0"/>
                <a:cs typeface="Calibri" panose="020F0502020204030204" pitchFamily="34" charset="0"/>
              </a:rPr>
              <a:t>motor</a:t>
            </a:r>
          </a:p>
        </p:txBody>
      </p:sp>
    </p:spTree>
    <p:extLst>
      <p:ext uri="{BB962C8B-B14F-4D97-AF65-F5344CB8AC3E}">
        <p14:creationId xmlns:p14="http://schemas.microsoft.com/office/powerpoint/2010/main" val="15569447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4C278A-0E91-A7A9-C46E-A8199EE145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0293A3-4957-6CBA-96CB-4B241EEF9214}"/>
              </a:ext>
            </a:extLst>
          </p:cNvPr>
          <p:cNvSpPr>
            <a:spLocks noGrp="1"/>
          </p:cNvSpPr>
          <p:nvPr>
            <p:ph type="title"/>
          </p:nvPr>
        </p:nvSpPr>
        <p:spPr/>
        <p:txBody>
          <a:bodyPr/>
          <a:lstStyle/>
          <a:p>
            <a:r>
              <a:rPr lang="en-US" dirty="0"/>
              <a:t>Knowledge Domains: </a:t>
            </a:r>
            <a:r>
              <a:rPr lang="en-US" b="0" dirty="0"/>
              <a:t>Bloom, Krathwohl, &amp; Anderson</a:t>
            </a:r>
          </a:p>
        </p:txBody>
      </p:sp>
      <p:pic>
        <p:nvPicPr>
          <p:cNvPr id="5" name="Picture 4" descr="A close-up of a text&#10;&#10;Description automatically generated">
            <a:extLst>
              <a:ext uri="{FF2B5EF4-FFF2-40B4-BE49-F238E27FC236}">
                <a16:creationId xmlns:a16="http://schemas.microsoft.com/office/drawing/2014/main" id="{0042BBB3-19A5-08BD-5E8C-9432C29E529E}"/>
              </a:ext>
            </a:extLst>
          </p:cNvPr>
          <p:cNvPicPr>
            <a:picLocks noChangeAspect="1"/>
          </p:cNvPicPr>
          <p:nvPr/>
        </p:nvPicPr>
        <p:blipFill>
          <a:blip r:embed="rId2"/>
          <a:stretch>
            <a:fillRect/>
          </a:stretch>
        </p:blipFill>
        <p:spPr>
          <a:xfrm>
            <a:off x="1371600" y="1170269"/>
            <a:ext cx="7772400" cy="3880230"/>
          </a:xfrm>
          <a:prstGeom prst="rect">
            <a:avLst/>
          </a:prstGeom>
        </p:spPr>
      </p:pic>
      <p:sp>
        <p:nvSpPr>
          <p:cNvPr id="6" name="TextBox 5">
            <a:extLst>
              <a:ext uri="{FF2B5EF4-FFF2-40B4-BE49-F238E27FC236}">
                <a16:creationId xmlns:a16="http://schemas.microsoft.com/office/drawing/2014/main" id="{2510B518-0A56-75F2-3A6F-D0FC55A73E04}"/>
              </a:ext>
            </a:extLst>
          </p:cNvPr>
          <p:cNvSpPr txBox="1"/>
          <p:nvPr/>
        </p:nvSpPr>
        <p:spPr>
          <a:xfrm>
            <a:off x="148046" y="1750422"/>
            <a:ext cx="1011174" cy="369332"/>
          </a:xfrm>
          <a:prstGeom prst="rect">
            <a:avLst/>
          </a:prstGeom>
          <a:noFill/>
        </p:spPr>
        <p:txBody>
          <a:bodyPr wrap="none" rtlCol="0">
            <a:spAutoFit/>
          </a:bodyPr>
          <a:lstStyle/>
          <a:p>
            <a:r>
              <a:rPr lang="en-US" dirty="0">
                <a:latin typeface="Calibri" panose="020F0502020204030204" pitchFamily="34" charset="0"/>
                <a:cs typeface="Calibri" panose="020F0502020204030204" pitchFamily="34" charset="0"/>
              </a:rPr>
              <a:t>Affective</a:t>
            </a:r>
          </a:p>
        </p:txBody>
      </p:sp>
    </p:spTree>
    <p:extLst>
      <p:ext uri="{BB962C8B-B14F-4D97-AF65-F5344CB8AC3E}">
        <p14:creationId xmlns:p14="http://schemas.microsoft.com/office/powerpoint/2010/main" val="24484043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AB59A3-0CF8-0D60-880F-D9B0BE57BE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8ABAF4-E936-7DEF-FF6A-B34A8A5C8CD0}"/>
              </a:ext>
            </a:extLst>
          </p:cNvPr>
          <p:cNvSpPr>
            <a:spLocks noGrp="1"/>
          </p:cNvSpPr>
          <p:nvPr>
            <p:ph type="title" idx="4294967295"/>
          </p:nvPr>
        </p:nvSpPr>
        <p:spPr>
          <a:xfrm>
            <a:off x="263048" y="342657"/>
            <a:ext cx="2384358" cy="1799652"/>
          </a:xfrm>
        </p:spPr>
        <p:txBody>
          <a:bodyPr>
            <a:noAutofit/>
          </a:bodyPr>
          <a:lstStyle/>
          <a:p>
            <a:r>
              <a:rPr lang="en-US" sz="2400" b="0" dirty="0"/>
              <a:t>How Do We </a:t>
            </a:r>
            <a:r>
              <a:rPr lang="en-US" sz="2400" b="0" u="sng" dirty="0"/>
              <a:t>Operationalize</a:t>
            </a:r>
            <a:r>
              <a:rPr lang="en-US" sz="2400" b="0" dirty="0"/>
              <a:t> Bloom’s Taxonomy?</a:t>
            </a:r>
          </a:p>
        </p:txBody>
      </p:sp>
      <p:pic>
        <p:nvPicPr>
          <p:cNvPr id="3" name="Picture 2" descr="A list of words on a table&#10;&#10;Description automatically generated">
            <a:extLst>
              <a:ext uri="{FF2B5EF4-FFF2-40B4-BE49-F238E27FC236}">
                <a16:creationId xmlns:a16="http://schemas.microsoft.com/office/drawing/2014/main" id="{A8710BD5-97A7-00BE-8118-4BA99072AC1B}"/>
              </a:ext>
            </a:extLst>
          </p:cNvPr>
          <p:cNvPicPr>
            <a:picLocks noChangeAspect="1"/>
          </p:cNvPicPr>
          <p:nvPr/>
        </p:nvPicPr>
        <p:blipFill>
          <a:blip r:embed="rId3"/>
          <a:stretch>
            <a:fillRect/>
          </a:stretch>
        </p:blipFill>
        <p:spPr>
          <a:xfrm>
            <a:off x="2309800" y="94161"/>
            <a:ext cx="6808073" cy="4955177"/>
          </a:xfrm>
          <a:prstGeom prst="rect">
            <a:avLst/>
          </a:prstGeom>
        </p:spPr>
      </p:pic>
    </p:spTree>
    <p:extLst>
      <p:ext uri="{BB962C8B-B14F-4D97-AF65-F5344CB8AC3E}">
        <p14:creationId xmlns:p14="http://schemas.microsoft.com/office/powerpoint/2010/main" val="21107911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AC95A-3029-6BDD-AAD4-7ADA6D3D80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627B4E-7EA5-1904-74DE-6B1D7CE348B7}"/>
              </a:ext>
            </a:extLst>
          </p:cNvPr>
          <p:cNvSpPr>
            <a:spLocks noGrp="1"/>
          </p:cNvSpPr>
          <p:nvPr>
            <p:ph type="title"/>
          </p:nvPr>
        </p:nvSpPr>
        <p:spPr>
          <a:xfrm>
            <a:off x="1252401" y="249522"/>
            <a:ext cx="6639197" cy="639893"/>
          </a:xfrm>
        </p:spPr>
        <p:txBody>
          <a:bodyPr>
            <a:normAutofit/>
          </a:bodyPr>
          <a:lstStyle/>
          <a:p>
            <a:r>
              <a:rPr lang="en-US" sz="2700" b="0" dirty="0"/>
              <a:t>Example of Bloom Applied to a Course Exam </a:t>
            </a:r>
          </a:p>
        </p:txBody>
      </p:sp>
      <p:pic>
        <p:nvPicPr>
          <p:cNvPr id="5" name="Picture 4" descr="Screen Shot 2016-01-28 at 12.50.32 PM.png">
            <a:extLst>
              <a:ext uri="{FF2B5EF4-FFF2-40B4-BE49-F238E27FC236}">
                <a16:creationId xmlns:a16="http://schemas.microsoft.com/office/drawing/2014/main" id="{0E53539D-7170-ED07-86DB-C5EFFBCC54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95601" y="1077139"/>
            <a:ext cx="6087180" cy="4014107"/>
          </a:xfrm>
          <a:prstGeom prst="rect">
            <a:avLst/>
          </a:prstGeom>
        </p:spPr>
      </p:pic>
      <p:sp>
        <p:nvSpPr>
          <p:cNvPr id="3" name="Content Placeholder 2">
            <a:extLst>
              <a:ext uri="{FF2B5EF4-FFF2-40B4-BE49-F238E27FC236}">
                <a16:creationId xmlns:a16="http://schemas.microsoft.com/office/drawing/2014/main" id="{CCEF6A3F-D748-CDD6-484F-6851FAB7FFB5}"/>
              </a:ext>
            </a:extLst>
          </p:cNvPr>
          <p:cNvSpPr>
            <a:spLocks noGrp="1"/>
          </p:cNvSpPr>
          <p:nvPr>
            <p:ph idx="1"/>
          </p:nvPr>
        </p:nvSpPr>
        <p:spPr>
          <a:xfrm>
            <a:off x="239374" y="1369424"/>
            <a:ext cx="2721540" cy="3420290"/>
          </a:xfrm>
        </p:spPr>
        <p:txBody>
          <a:bodyPr>
            <a:normAutofit/>
          </a:bodyPr>
          <a:lstStyle/>
          <a:p>
            <a:r>
              <a:rPr lang="en-US" dirty="0"/>
              <a:t>Action words guide question design</a:t>
            </a:r>
          </a:p>
        </p:txBody>
      </p:sp>
    </p:spTree>
    <p:extLst>
      <p:ext uri="{BB962C8B-B14F-4D97-AF65-F5344CB8AC3E}">
        <p14:creationId xmlns:p14="http://schemas.microsoft.com/office/powerpoint/2010/main" val="15213622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A9A35A-34A5-3515-091D-FA5F12FE8F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ED584B-1D9E-7A9E-628F-6AC6861AAEF9}"/>
              </a:ext>
            </a:extLst>
          </p:cNvPr>
          <p:cNvSpPr>
            <a:spLocks noGrp="1"/>
          </p:cNvSpPr>
          <p:nvPr>
            <p:ph type="title"/>
          </p:nvPr>
        </p:nvSpPr>
        <p:spPr>
          <a:xfrm>
            <a:off x="1485900" y="306187"/>
            <a:ext cx="6172200" cy="633233"/>
          </a:xfrm>
        </p:spPr>
        <p:txBody>
          <a:bodyPr>
            <a:noAutofit/>
          </a:bodyPr>
          <a:lstStyle/>
          <a:p>
            <a:r>
              <a:rPr lang="en-US" sz="2400" b="0" dirty="0"/>
              <a:t>Other Examples of Bloom’s Taxonomy In Use</a:t>
            </a:r>
          </a:p>
        </p:txBody>
      </p:sp>
      <p:pic>
        <p:nvPicPr>
          <p:cNvPr id="4" name="Picture 3" descr="Screen Shot 2016-01-28 at 12.50.23 PM.png">
            <a:extLst>
              <a:ext uri="{FF2B5EF4-FFF2-40B4-BE49-F238E27FC236}">
                <a16:creationId xmlns:a16="http://schemas.microsoft.com/office/drawing/2014/main" id="{716BA7CA-8633-E669-2DE8-D28931225C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28869" y="1070845"/>
            <a:ext cx="5918845" cy="1957513"/>
          </a:xfrm>
          <a:prstGeom prst="rect">
            <a:avLst/>
          </a:prstGeom>
        </p:spPr>
      </p:pic>
      <p:pic>
        <p:nvPicPr>
          <p:cNvPr id="6" name="Picture 5" descr="Screen Shot 2016-01-28 at 12.50.44 PM.png">
            <a:extLst>
              <a:ext uri="{FF2B5EF4-FFF2-40B4-BE49-F238E27FC236}">
                <a16:creationId xmlns:a16="http://schemas.microsoft.com/office/drawing/2014/main" id="{472A44CD-DD34-5442-B29D-1D8075C8074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28868" y="3229950"/>
            <a:ext cx="5918846" cy="1863575"/>
          </a:xfrm>
          <a:prstGeom prst="rect">
            <a:avLst/>
          </a:prstGeom>
        </p:spPr>
      </p:pic>
      <p:sp>
        <p:nvSpPr>
          <p:cNvPr id="7" name="TextBox 6">
            <a:extLst>
              <a:ext uri="{FF2B5EF4-FFF2-40B4-BE49-F238E27FC236}">
                <a16:creationId xmlns:a16="http://schemas.microsoft.com/office/drawing/2014/main" id="{8CF32671-9D9E-4B45-2741-A4E2D87C0185}"/>
              </a:ext>
            </a:extLst>
          </p:cNvPr>
          <p:cNvSpPr txBox="1"/>
          <p:nvPr/>
        </p:nvSpPr>
        <p:spPr>
          <a:xfrm>
            <a:off x="252549" y="1787646"/>
            <a:ext cx="1696622" cy="923330"/>
          </a:xfrm>
          <a:prstGeom prst="rect">
            <a:avLst/>
          </a:prstGeom>
          <a:noFill/>
        </p:spPr>
        <p:txBody>
          <a:bodyPr wrap="square" rtlCol="0">
            <a:spAutoFit/>
          </a:bodyPr>
          <a:lstStyle/>
          <a:p>
            <a:r>
              <a:rPr lang="en-US" sz="1350" dirty="0">
                <a:latin typeface="Calibri" panose="020F0502020204030204" pitchFamily="34" charset="0"/>
                <a:cs typeface="Calibri" panose="020F0502020204030204" pitchFamily="34" charset="0"/>
              </a:rPr>
              <a:t>Generic model for points distribution on exams, over course, etc. </a:t>
            </a:r>
          </a:p>
        </p:txBody>
      </p:sp>
      <p:sp>
        <p:nvSpPr>
          <p:cNvPr id="8" name="TextBox 7">
            <a:extLst>
              <a:ext uri="{FF2B5EF4-FFF2-40B4-BE49-F238E27FC236}">
                <a16:creationId xmlns:a16="http://schemas.microsoft.com/office/drawing/2014/main" id="{5266FBA6-44A0-20F9-03D9-FE5F61A6AAFF}"/>
              </a:ext>
            </a:extLst>
          </p:cNvPr>
          <p:cNvSpPr txBox="1"/>
          <p:nvPr/>
        </p:nvSpPr>
        <p:spPr>
          <a:xfrm>
            <a:off x="252549" y="3939225"/>
            <a:ext cx="1696622" cy="715581"/>
          </a:xfrm>
          <a:prstGeom prst="rect">
            <a:avLst/>
          </a:prstGeom>
          <a:noFill/>
        </p:spPr>
        <p:txBody>
          <a:bodyPr wrap="square" rtlCol="0">
            <a:spAutoFit/>
          </a:bodyPr>
          <a:lstStyle/>
          <a:p>
            <a:r>
              <a:rPr lang="en-US" sz="1350" dirty="0">
                <a:latin typeface="Calibri" panose="020F0502020204030204" pitchFamily="34" charset="0"/>
                <a:cs typeface="Calibri" panose="020F0502020204030204" pitchFamily="34" charset="0"/>
              </a:rPr>
              <a:t>Course-level model for choosing types of assignments</a:t>
            </a:r>
          </a:p>
        </p:txBody>
      </p:sp>
      <p:sp>
        <p:nvSpPr>
          <p:cNvPr id="3" name="TextBox 2">
            <a:extLst>
              <a:ext uri="{FF2B5EF4-FFF2-40B4-BE49-F238E27FC236}">
                <a16:creationId xmlns:a16="http://schemas.microsoft.com/office/drawing/2014/main" id="{B89D947E-D829-7768-B226-25B9B478D7AA}"/>
              </a:ext>
            </a:extLst>
          </p:cNvPr>
          <p:cNvSpPr txBox="1"/>
          <p:nvPr/>
        </p:nvSpPr>
        <p:spPr>
          <a:xfrm>
            <a:off x="4049485" y="1972312"/>
            <a:ext cx="452368" cy="276999"/>
          </a:xfrm>
          <a:prstGeom prst="rect">
            <a:avLst/>
          </a:prstGeom>
          <a:solidFill>
            <a:schemeClr val="bg1"/>
          </a:solidFill>
        </p:spPr>
        <p:txBody>
          <a:bodyPr wrap="none" rtlCol="0">
            <a:spAutoFit/>
          </a:bodyPr>
          <a:lstStyle/>
          <a:p>
            <a:r>
              <a:rPr lang="en-US" sz="1200" dirty="0">
                <a:latin typeface="Calibri" panose="020F0502020204030204" pitchFamily="34" charset="0"/>
                <a:cs typeface="Calibri" panose="020F0502020204030204" pitchFamily="34" charset="0"/>
              </a:rPr>
              <a:t>12%</a:t>
            </a:r>
          </a:p>
        </p:txBody>
      </p:sp>
      <p:sp>
        <p:nvSpPr>
          <p:cNvPr id="5" name="TextBox 4">
            <a:extLst>
              <a:ext uri="{FF2B5EF4-FFF2-40B4-BE49-F238E27FC236}">
                <a16:creationId xmlns:a16="http://schemas.microsoft.com/office/drawing/2014/main" id="{C8F4DDA4-B5BE-205A-5041-82E740D94544}"/>
              </a:ext>
            </a:extLst>
          </p:cNvPr>
          <p:cNvSpPr txBox="1"/>
          <p:nvPr/>
        </p:nvSpPr>
        <p:spPr>
          <a:xfrm>
            <a:off x="4049485" y="2301318"/>
            <a:ext cx="452368" cy="276999"/>
          </a:xfrm>
          <a:prstGeom prst="rect">
            <a:avLst/>
          </a:prstGeom>
          <a:solidFill>
            <a:schemeClr val="bg1"/>
          </a:solidFill>
        </p:spPr>
        <p:txBody>
          <a:bodyPr wrap="none" rtlCol="0">
            <a:spAutoFit/>
          </a:bodyPr>
          <a:lstStyle/>
          <a:p>
            <a:r>
              <a:rPr lang="en-US" sz="1200" dirty="0">
                <a:latin typeface="Calibri" panose="020F0502020204030204" pitchFamily="34" charset="0"/>
                <a:cs typeface="Calibri" panose="020F0502020204030204" pitchFamily="34" charset="0"/>
              </a:rPr>
              <a:t>11%</a:t>
            </a:r>
          </a:p>
        </p:txBody>
      </p:sp>
      <p:sp>
        <p:nvSpPr>
          <p:cNvPr id="9" name="TextBox 8">
            <a:extLst>
              <a:ext uri="{FF2B5EF4-FFF2-40B4-BE49-F238E27FC236}">
                <a16:creationId xmlns:a16="http://schemas.microsoft.com/office/drawing/2014/main" id="{969C52FC-1377-7230-9122-0BF788E0E023}"/>
              </a:ext>
            </a:extLst>
          </p:cNvPr>
          <p:cNvSpPr txBox="1"/>
          <p:nvPr/>
        </p:nvSpPr>
        <p:spPr>
          <a:xfrm>
            <a:off x="4049485" y="2647742"/>
            <a:ext cx="452368" cy="276999"/>
          </a:xfrm>
          <a:prstGeom prst="rect">
            <a:avLst/>
          </a:prstGeom>
          <a:solidFill>
            <a:schemeClr val="bg1"/>
          </a:solidFill>
        </p:spPr>
        <p:txBody>
          <a:bodyPr wrap="none" rtlCol="0">
            <a:spAutoFit/>
          </a:bodyPr>
          <a:lstStyle/>
          <a:p>
            <a:r>
              <a:rPr lang="en-US" sz="1200" dirty="0">
                <a:latin typeface="Calibri" panose="020F0502020204030204" pitchFamily="34" charset="0"/>
                <a:cs typeface="Calibri" panose="020F0502020204030204" pitchFamily="34" charset="0"/>
              </a:rPr>
              <a:t>11%</a:t>
            </a:r>
          </a:p>
        </p:txBody>
      </p:sp>
      <p:sp>
        <p:nvSpPr>
          <p:cNvPr id="10" name="TextBox 9">
            <a:extLst>
              <a:ext uri="{FF2B5EF4-FFF2-40B4-BE49-F238E27FC236}">
                <a16:creationId xmlns:a16="http://schemas.microsoft.com/office/drawing/2014/main" id="{CB3E3D53-9C3D-9180-4C8E-84B33887D9CB}"/>
              </a:ext>
            </a:extLst>
          </p:cNvPr>
          <p:cNvSpPr txBox="1"/>
          <p:nvPr/>
        </p:nvSpPr>
        <p:spPr>
          <a:xfrm>
            <a:off x="5465655" y="2667210"/>
            <a:ext cx="452368" cy="276999"/>
          </a:xfrm>
          <a:prstGeom prst="rect">
            <a:avLst/>
          </a:prstGeom>
          <a:solidFill>
            <a:schemeClr val="bg1"/>
          </a:solidFill>
        </p:spPr>
        <p:txBody>
          <a:bodyPr wrap="none" rtlCol="0">
            <a:spAutoFit/>
          </a:bodyPr>
          <a:lstStyle/>
          <a:p>
            <a:r>
              <a:rPr lang="en-US" sz="1200" dirty="0">
                <a:latin typeface="Calibri" panose="020F0502020204030204" pitchFamily="34" charset="0"/>
                <a:cs typeface="Calibri" panose="020F0502020204030204" pitchFamily="34" charset="0"/>
              </a:rPr>
              <a:t>11%</a:t>
            </a:r>
          </a:p>
        </p:txBody>
      </p:sp>
      <p:sp>
        <p:nvSpPr>
          <p:cNvPr id="11" name="TextBox 10">
            <a:extLst>
              <a:ext uri="{FF2B5EF4-FFF2-40B4-BE49-F238E27FC236}">
                <a16:creationId xmlns:a16="http://schemas.microsoft.com/office/drawing/2014/main" id="{2A9A5240-4889-0AD0-F6DD-24241862A698}"/>
              </a:ext>
            </a:extLst>
          </p:cNvPr>
          <p:cNvSpPr txBox="1"/>
          <p:nvPr/>
        </p:nvSpPr>
        <p:spPr>
          <a:xfrm>
            <a:off x="5465655" y="2289415"/>
            <a:ext cx="452368" cy="276999"/>
          </a:xfrm>
          <a:prstGeom prst="rect">
            <a:avLst/>
          </a:prstGeom>
          <a:solidFill>
            <a:schemeClr val="bg1"/>
          </a:solidFill>
        </p:spPr>
        <p:txBody>
          <a:bodyPr wrap="none" rtlCol="0">
            <a:spAutoFit/>
          </a:bodyPr>
          <a:lstStyle/>
          <a:p>
            <a:r>
              <a:rPr lang="en-US" sz="1200" dirty="0">
                <a:latin typeface="Calibri" panose="020F0502020204030204" pitchFamily="34" charset="0"/>
                <a:cs typeface="Calibri" panose="020F0502020204030204" pitchFamily="34" charset="0"/>
              </a:rPr>
              <a:t>11%</a:t>
            </a:r>
          </a:p>
        </p:txBody>
      </p:sp>
      <p:sp>
        <p:nvSpPr>
          <p:cNvPr id="12" name="TextBox 11">
            <a:extLst>
              <a:ext uri="{FF2B5EF4-FFF2-40B4-BE49-F238E27FC236}">
                <a16:creationId xmlns:a16="http://schemas.microsoft.com/office/drawing/2014/main" id="{06CA44C2-F748-5E1E-3D52-62ECD8F3249A}"/>
              </a:ext>
            </a:extLst>
          </p:cNvPr>
          <p:cNvSpPr txBox="1"/>
          <p:nvPr/>
        </p:nvSpPr>
        <p:spPr>
          <a:xfrm>
            <a:off x="6935803" y="2647743"/>
            <a:ext cx="452368" cy="276999"/>
          </a:xfrm>
          <a:prstGeom prst="rect">
            <a:avLst/>
          </a:prstGeom>
          <a:solidFill>
            <a:schemeClr val="bg1"/>
          </a:solidFill>
        </p:spPr>
        <p:txBody>
          <a:bodyPr wrap="none" rtlCol="0">
            <a:spAutoFit/>
          </a:bodyPr>
          <a:lstStyle/>
          <a:p>
            <a:r>
              <a:rPr lang="en-US" sz="1200" dirty="0">
                <a:latin typeface="Calibri" panose="020F0502020204030204" pitchFamily="34" charset="0"/>
                <a:cs typeface="Calibri" panose="020F0502020204030204" pitchFamily="34" charset="0"/>
              </a:rPr>
              <a:t>11%</a:t>
            </a:r>
          </a:p>
        </p:txBody>
      </p:sp>
      <p:sp>
        <p:nvSpPr>
          <p:cNvPr id="13" name="TextBox 12">
            <a:extLst>
              <a:ext uri="{FF2B5EF4-FFF2-40B4-BE49-F238E27FC236}">
                <a16:creationId xmlns:a16="http://schemas.microsoft.com/office/drawing/2014/main" id="{00E7BE3E-98DD-58A8-CE30-211B3AA03E13}"/>
              </a:ext>
            </a:extLst>
          </p:cNvPr>
          <p:cNvSpPr txBox="1"/>
          <p:nvPr/>
        </p:nvSpPr>
        <p:spPr>
          <a:xfrm>
            <a:off x="6922585" y="2321769"/>
            <a:ext cx="452368" cy="276999"/>
          </a:xfrm>
          <a:prstGeom prst="rect">
            <a:avLst/>
          </a:prstGeom>
          <a:solidFill>
            <a:schemeClr val="bg1"/>
          </a:solidFill>
        </p:spPr>
        <p:txBody>
          <a:bodyPr wrap="none" rtlCol="0">
            <a:spAutoFit/>
          </a:bodyPr>
          <a:lstStyle/>
          <a:p>
            <a:r>
              <a:rPr lang="en-US" sz="1200" dirty="0">
                <a:latin typeface="Calibri" panose="020F0502020204030204" pitchFamily="34" charset="0"/>
                <a:cs typeface="Calibri" panose="020F0502020204030204" pitchFamily="34" charset="0"/>
              </a:rPr>
              <a:t>11%</a:t>
            </a:r>
          </a:p>
        </p:txBody>
      </p:sp>
      <p:sp>
        <p:nvSpPr>
          <p:cNvPr id="14" name="TextBox 13">
            <a:extLst>
              <a:ext uri="{FF2B5EF4-FFF2-40B4-BE49-F238E27FC236}">
                <a16:creationId xmlns:a16="http://schemas.microsoft.com/office/drawing/2014/main" id="{8F9F4535-C376-9C5F-FD85-EE7FC2090896}"/>
              </a:ext>
            </a:extLst>
          </p:cNvPr>
          <p:cNvSpPr txBox="1"/>
          <p:nvPr/>
        </p:nvSpPr>
        <p:spPr>
          <a:xfrm>
            <a:off x="6935803" y="1981678"/>
            <a:ext cx="452368" cy="276999"/>
          </a:xfrm>
          <a:prstGeom prst="rect">
            <a:avLst/>
          </a:prstGeom>
          <a:solidFill>
            <a:schemeClr val="bg1"/>
          </a:solidFill>
        </p:spPr>
        <p:txBody>
          <a:bodyPr wrap="none" rtlCol="0">
            <a:spAutoFit/>
          </a:bodyPr>
          <a:lstStyle/>
          <a:p>
            <a:r>
              <a:rPr lang="en-US" sz="1200" dirty="0">
                <a:latin typeface="Calibri" panose="020F0502020204030204" pitchFamily="34" charset="0"/>
                <a:cs typeface="Calibri" panose="020F0502020204030204" pitchFamily="34" charset="0"/>
              </a:rPr>
              <a:t>11%</a:t>
            </a:r>
          </a:p>
        </p:txBody>
      </p:sp>
      <p:sp>
        <p:nvSpPr>
          <p:cNvPr id="15" name="TextBox 14">
            <a:extLst>
              <a:ext uri="{FF2B5EF4-FFF2-40B4-BE49-F238E27FC236}">
                <a16:creationId xmlns:a16="http://schemas.microsoft.com/office/drawing/2014/main" id="{2B8F820C-37BC-5786-C460-7801389192F1}"/>
              </a:ext>
            </a:extLst>
          </p:cNvPr>
          <p:cNvSpPr txBox="1"/>
          <p:nvPr/>
        </p:nvSpPr>
        <p:spPr>
          <a:xfrm>
            <a:off x="5465655" y="1972312"/>
            <a:ext cx="452368" cy="276999"/>
          </a:xfrm>
          <a:prstGeom prst="rect">
            <a:avLst/>
          </a:prstGeom>
          <a:solidFill>
            <a:schemeClr val="bg1"/>
          </a:solidFill>
        </p:spPr>
        <p:txBody>
          <a:bodyPr wrap="none" rtlCol="0">
            <a:spAutoFit/>
          </a:bodyPr>
          <a:lstStyle/>
          <a:p>
            <a:r>
              <a:rPr lang="en-US" sz="1200" dirty="0">
                <a:latin typeface="Calibri" panose="020F0502020204030204" pitchFamily="34" charset="0"/>
                <a:cs typeface="Calibri" panose="020F0502020204030204" pitchFamily="34" charset="0"/>
              </a:rPr>
              <a:t>11%</a:t>
            </a:r>
          </a:p>
        </p:txBody>
      </p:sp>
    </p:spTree>
    <p:extLst>
      <p:ext uri="{BB962C8B-B14F-4D97-AF65-F5344CB8AC3E}">
        <p14:creationId xmlns:p14="http://schemas.microsoft.com/office/powerpoint/2010/main" val="679771205"/>
      </p:ext>
    </p:extLst>
  </p:cSld>
  <p:clrMapOvr>
    <a:masterClrMapping/>
  </p:clrMapOvr>
</p:sld>
</file>

<file path=ppt/theme/theme1.xml><?xml version="1.0" encoding="utf-8"?>
<a:theme xmlns:a="http://schemas.openxmlformats.org/drawingml/2006/main" name="Biology Slides 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Urban Pop">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2017 Template for 114.potx" id="{89415010-F74F-3549-AC6C-879045F30FC2}" vid="{404D5C53-FFFF-514E-8F96-6BB0BFCB9FB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2017 Template for 114</Template>
  <TotalTime>14017</TotalTime>
  <Words>688</Words>
  <Application>Microsoft Macintosh PowerPoint</Application>
  <PresentationFormat>On-screen Show (16:9)</PresentationFormat>
  <Paragraphs>92</Paragraphs>
  <Slides>19</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Biology Slides Template</vt:lpstr>
      <vt:lpstr>WFU BIO783: Instructional Methods</vt:lpstr>
      <vt:lpstr>What Is “Essential Knowledge”?</vt:lpstr>
      <vt:lpstr>Essential Knowledge: Knowledge Domains</vt:lpstr>
      <vt:lpstr>Essential Disciplinary Knowledge: Vision &amp; Change 2011</vt:lpstr>
      <vt:lpstr>Essential Biology Knowledge: Vision &amp; Change ‘11</vt:lpstr>
      <vt:lpstr>Essential Disciplinary Knowledge: Brownell, 2014</vt:lpstr>
      <vt:lpstr>Essential Disciplinary Knowledge: Brownell, 2014</vt:lpstr>
      <vt:lpstr>Essential Disciplinary Knowledge: Brownell, 2014</vt:lpstr>
      <vt:lpstr>Essential Disciplinary Knowledge: Brownell, 2014</vt:lpstr>
      <vt:lpstr>Essential Disciplinary Knowledge: Brownell, 2014</vt:lpstr>
      <vt:lpstr>Essential Disciplinary Knowledge: Brownell, 2014</vt:lpstr>
      <vt:lpstr>“Classic” Bloom’s Taxonomy of General Cognitive Domain</vt:lpstr>
      <vt:lpstr>Knowledge Domains: The REAL Bloom’s Taxonomy</vt:lpstr>
      <vt:lpstr>Knowledge Domains: Bloom, Krathwohl, &amp; Anderson</vt:lpstr>
      <vt:lpstr>Knowledge Domains: Bloom, Krathwohl, &amp; Anderson</vt:lpstr>
      <vt:lpstr>Knowledge Domains: Bloom, Krathwohl, &amp; Anderson</vt:lpstr>
      <vt:lpstr>How Do We Operationalize Bloom’s Taxonomy?</vt:lpstr>
      <vt:lpstr>Example of Bloom Applied to a Course Exam </vt:lpstr>
      <vt:lpstr>Other Examples of Bloom’s Taxonomy In Use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Main Title</dc:title>
  <dc:creator>A Daniel Johnson</dc:creator>
  <cp:lastModifiedBy>Johnson, Dan</cp:lastModifiedBy>
  <cp:revision>261</cp:revision>
  <dcterms:created xsi:type="dcterms:W3CDTF">2017-12-05T01:11:05Z</dcterms:created>
  <dcterms:modified xsi:type="dcterms:W3CDTF">2024-02-08T01:55:01Z</dcterms:modified>
</cp:coreProperties>
</file>